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7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A5E042-A756-43C5-B42B-A933D73014DF}" v="24" dt="2026-05-18T20:20:35.7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cer Aspire" userId="748f8658868b742d" providerId="LiveId" clId="{22E8E200-274B-4A44-A9D8-E338FAEFBE9A}"/>
    <pc:docChg chg="undo custSel modSld">
      <pc:chgData name="Acer Aspire" userId="748f8658868b742d" providerId="LiveId" clId="{22E8E200-274B-4A44-A9D8-E338FAEFBE9A}" dt="2026-05-18T20:25:12.957" v="347" actId="1076"/>
      <pc:docMkLst>
        <pc:docMk/>
      </pc:docMkLst>
      <pc:sldChg chg="modSp mod">
        <pc:chgData name="Acer Aspire" userId="748f8658868b742d" providerId="LiveId" clId="{22E8E200-274B-4A44-A9D8-E338FAEFBE9A}" dt="2026-05-17T22:26:44.038" v="6" actId="20577"/>
        <pc:sldMkLst>
          <pc:docMk/>
          <pc:sldMk cId="0" sldId="261"/>
        </pc:sldMkLst>
        <pc:spChg chg="mod">
          <ac:chgData name="Acer Aspire" userId="748f8658868b742d" providerId="LiveId" clId="{22E8E200-274B-4A44-A9D8-E338FAEFBE9A}" dt="2026-05-17T22:26:44.038" v="6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Acer Aspire" userId="748f8658868b742d" providerId="LiveId" clId="{22E8E200-274B-4A44-A9D8-E338FAEFBE9A}" dt="2026-05-17T06:56:28.183" v="0" actId="1076"/>
          <ac:spMkLst>
            <pc:docMk/>
            <pc:sldMk cId="0" sldId="261"/>
            <ac:spMk id="33" creationId="{00000000-0000-0000-0000-000000000000}"/>
          </ac:spMkLst>
        </pc:spChg>
      </pc:sldChg>
      <pc:sldChg chg="modSp mod">
        <pc:chgData name="Acer Aspire" userId="748f8658868b742d" providerId="LiveId" clId="{22E8E200-274B-4A44-A9D8-E338FAEFBE9A}" dt="2026-05-17T06:59:10.032" v="2" actId="1076"/>
        <pc:sldMkLst>
          <pc:docMk/>
          <pc:sldMk cId="0" sldId="269"/>
        </pc:sldMkLst>
        <pc:spChg chg="mod">
          <ac:chgData name="Acer Aspire" userId="748f8658868b742d" providerId="LiveId" clId="{22E8E200-274B-4A44-A9D8-E338FAEFBE9A}" dt="2026-05-17T06:59:10.032" v="2" actId="1076"/>
          <ac:spMkLst>
            <pc:docMk/>
            <pc:sldMk cId="0" sldId="269"/>
            <ac:spMk id="18" creationId="{00000000-0000-0000-0000-000000000000}"/>
          </ac:spMkLst>
        </pc:spChg>
        <pc:graphicFrameChg chg="modGraphic">
          <ac:chgData name="Acer Aspire" userId="748f8658868b742d" providerId="LiveId" clId="{22E8E200-274B-4A44-A9D8-E338FAEFBE9A}" dt="2026-05-17T06:59:03.409" v="1" actId="20577"/>
          <ac:graphicFrameMkLst>
            <pc:docMk/>
            <pc:sldMk cId="0" sldId="269"/>
            <ac:graphicFrameMk id="29" creationId="{00000000-0000-0000-0000-000000000000}"/>
          </ac:graphicFrameMkLst>
        </pc:graphicFrameChg>
      </pc:sldChg>
      <pc:sldChg chg="addSp delSp modSp mod">
        <pc:chgData name="Acer Aspire" userId="748f8658868b742d" providerId="LiveId" clId="{22E8E200-274B-4A44-A9D8-E338FAEFBE9A}" dt="2026-05-18T20:24:58.238" v="346" actId="1076"/>
        <pc:sldMkLst>
          <pc:docMk/>
          <pc:sldMk cId="0" sldId="270"/>
        </pc:sldMkLst>
        <pc:spChg chg="mod">
          <ac:chgData name="Acer Aspire" userId="748f8658868b742d" providerId="LiveId" clId="{22E8E200-274B-4A44-A9D8-E338FAEFBE9A}" dt="2026-05-18T19:53:51.412" v="19" actId="1076"/>
          <ac:spMkLst>
            <pc:docMk/>
            <pc:sldMk cId="0" sldId="270"/>
            <ac:spMk id="7" creationId="{00000000-0000-0000-0000-000000000000}"/>
          </ac:spMkLst>
        </pc:spChg>
        <pc:spChg chg="del mod">
          <ac:chgData name="Acer Aspire" userId="748f8658868b742d" providerId="LiveId" clId="{22E8E200-274B-4A44-A9D8-E338FAEFBE9A}" dt="2026-05-18T19:54:08.340" v="23" actId="478"/>
          <ac:spMkLst>
            <pc:docMk/>
            <pc:sldMk cId="0" sldId="270"/>
            <ac:spMk id="8" creationId="{00000000-0000-0000-0000-000000000000}"/>
          </ac:spMkLst>
        </pc:spChg>
        <pc:spChg chg="mod">
          <ac:chgData name="Acer Aspire" userId="748f8658868b742d" providerId="LiveId" clId="{22E8E200-274B-4A44-A9D8-E338FAEFBE9A}" dt="2026-05-18T19:56:44.877" v="48" actId="14100"/>
          <ac:spMkLst>
            <pc:docMk/>
            <pc:sldMk cId="0" sldId="270"/>
            <ac:spMk id="9" creationId="{00000000-0000-0000-0000-000000000000}"/>
          </ac:spMkLst>
        </pc:spChg>
        <pc:spChg chg="mod">
          <ac:chgData name="Acer Aspire" userId="748f8658868b742d" providerId="LiveId" clId="{22E8E200-274B-4A44-A9D8-E338FAEFBE9A}" dt="2026-05-18T19:56:51.076" v="49" actId="1076"/>
          <ac:spMkLst>
            <pc:docMk/>
            <pc:sldMk cId="0" sldId="270"/>
            <ac:spMk id="10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01:31.527" v="92" actId="1076"/>
          <ac:spMkLst>
            <pc:docMk/>
            <pc:sldMk cId="0" sldId="270"/>
            <ac:spMk id="11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03:15.212" v="111" actId="1076"/>
          <ac:spMkLst>
            <pc:docMk/>
            <pc:sldMk cId="0" sldId="270"/>
            <ac:spMk id="12" creationId="{00000000-0000-0000-0000-000000000000}"/>
          </ac:spMkLst>
        </pc:spChg>
        <pc:spChg chg="del mod">
          <ac:chgData name="Acer Aspire" userId="748f8658868b742d" providerId="LiveId" clId="{22E8E200-274B-4A44-A9D8-E338FAEFBE9A}" dt="2026-05-18T19:54:44.446" v="29" actId="478"/>
          <ac:spMkLst>
            <pc:docMk/>
            <pc:sldMk cId="0" sldId="270"/>
            <ac:spMk id="13" creationId="{00000000-0000-0000-0000-000000000000}"/>
          </ac:spMkLst>
        </pc:spChg>
        <pc:spChg chg="mod ord">
          <ac:chgData name="Acer Aspire" userId="748f8658868b742d" providerId="LiveId" clId="{22E8E200-274B-4A44-A9D8-E338FAEFBE9A}" dt="2026-05-18T20:01:57.563" v="97" actId="1076"/>
          <ac:spMkLst>
            <pc:docMk/>
            <pc:sldMk cId="0" sldId="270"/>
            <ac:spMk id="14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02:16.441" v="99" actId="1076"/>
          <ac:spMkLst>
            <pc:docMk/>
            <pc:sldMk cId="0" sldId="270"/>
            <ac:spMk id="15" creationId="{00000000-0000-0000-0000-000000000000}"/>
          </ac:spMkLst>
        </pc:spChg>
        <pc:spChg chg="del">
          <ac:chgData name="Acer Aspire" userId="748f8658868b742d" providerId="LiveId" clId="{22E8E200-274B-4A44-A9D8-E338FAEFBE9A}" dt="2026-05-18T20:04:27.117" v="121" actId="478"/>
          <ac:spMkLst>
            <pc:docMk/>
            <pc:sldMk cId="0" sldId="270"/>
            <ac:spMk id="16" creationId="{00000000-0000-0000-0000-000000000000}"/>
          </ac:spMkLst>
        </pc:spChg>
        <pc:spChg chg="del">
          <ac:chgData name="Acer Aspire" userId="748f8658868b742d" providerId="LiveId" clId="{22E8E200-274B-4A44-A9D8-E338FAEFBE9A}" dt="2026-05-18T20:04:26.264" v="120" actId="478"/>
          <ac:spMkLst>
            <pc:docMk/>
            <pc:sldMk cId="0" sldId="270"/>
            <ac:spMk id="17" creationId="{00000000-0000-0000-0000-000000000000}"/>
          </ac:spMkLst>
        </pc:spChg>
        <pc:spChg chg="mod ord">
          <ac:chgData name="Acer Aspire" userId="748f8658868b742d" providerId="LiveId" clId="{22E8E200-274B-4A44-A9D8-E338FAEFBE9A}" dt="2026-05-18T20:17:10.995" v="257" actId="1076"/>
          <ac:spMkLst>
            <pc:docMk/>
            <pc:sldMk cId="0" sldId="270"/>
            <ac:spMk id="18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04:17.248" v="119" actId="1076"/>
          <ac:spMkLst>
            <pc:docMk/>
            <pc:sldMk cId="0" sldId="270"/>
            <ac:spMk id="19" creationId="{00000000-0000-0000-0000-000000000000}"/>
          </ac:spMkLst>
        </pc:spChg>
        <pc:spChg chg="del">
          <ac:chgData name="Acer Aspire" userId="748f8658868b742d" providerId="LiveId" clId="{22E8E200-274B-4A44-A9D8-E338FAEFBE9A}" dt="2026-05-18T20:05:53.972" v="136" actId="478"/>
          <ac:spMkLst>
            <pc:docMk/>
            <pc:sldMk cId="0" sldId="270"/>
            <ac:spMk id="20" creationId="{00000000-0000-0000-0000-000000000000}"/>
          </ac:spMkLst>
        </pc:spChg>
        <pc:spChg chg="del">
          <ac:chgData name="Acer Aspire" userId="748f8658868b742d" providerId="LiveId" clId="{22E8E200-274B-4A44-A9D8-E338FAEFBE9A}" dt="2026-05-18T20:05:52.860" v="135" actId="478"/>
          <ac:spMkLst>
            <pc:docMk/>
            <pc:sldMk cId="0" sldId="270"/>
            <ac:spMk id="21" creationId="{00000000-0000-0000-0000-000000000000}"/>
          </ac:spMkLst>
        </pc:spChg>
        <pc:spChg chg="mod ord">
          <ac:chgData name="Acer Aspire" userId="748f8658868b742d" providerId="LiveId" clId="{22E8E200-274B-4A44-A9D8-E338FAEFBE9A}" dt="2026-05-18T20:05:50.587" v="134" actId="14100"/>
          <ac:spMkLst>
            <pc:docMk/>
            <pc:sldMk cId="0" sldId="270"/>
            <ac:spMk id="22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06:19.600" v="139" actId="14100"/>
          <ac:spMkLst>
            <pc:docMk/>
            <pc:sldMk cId="0" sldId="270"/>
            <ac:spMk id="23" creationId="{00000000-0000-0000-0000-000000000000}"/>
          </ac:spMkLst>
        </pc:spChg>
        <pc:spChg chg="del">
          <ac:chgData name="Acer Aspire" userId="748f8658868b742d" providerId="LiveId" clId="{22E8E200-274B-4A44-A9D8-E338FAEFBE9A}" dt="2026-05-18T20:07:19.575" v="149" actId="478"/>
          <ac:spMkLst>
            <pc:docMk/>
            <pc:sldMk cId="0" sldId="270"/>
            <ac:spMk id="24" creationId="{00000000-0000-0000-0000-000000000000}"/>
          </ac:spMkLst>
        </pc:spChg>
        <pc:spChg chg="del">
          <ac:chgData name="Acer Aspire" userId="748f8658868b742d" providerId="LiveId" clId="{22E8E200-274B-4A44-A9D8-E338FAEFBE9A}" dt="2026-05-18T20:07:18.417" v="148" actId="478"/>
          <ac:spMkLst>
            <pc:docMk/>
            <pc:sldMk cId="0" sldId="270"/>
            <ac:spMk id="25" creationId="{00000000-0000-0000-0000-000000000000}"/>
          </ac:spMkLst>
        </pc:spChg>
        <pc:spChg chg="mod ord">
          <ac:chgData name="Acer Aspire" userId="748f8658868b742d" providerId="LiveId" clId="{22E8E200-274B-4A44-A9D8-E338FAEFBE9A}" dt="2026-05-18T20:07:16.344" v="147" actId="1076"/>
          <ac:spMkLst>
            <pc:docMk/>
            <pc:sldMk cId="0" sldId="270"/>
            <ac:spMk id="26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07:59.488" v="154" actId="1076"/>
          <ac:spMkLst>
            <pc:docMk/>
            <pc:sldMk cId="0" sldId="270"/>
            <ac:spMk id="27" creationId="{00000000-0000-0000-0000-000000000000}"/>
          </ac:spMkLst>
        </pc:spChg>
        <pc:spChg chg="del">
          <ac:chgData name="Acer Aspire" userId="748f8658868b742d" providerId="LiveId" clId="{22E8E200-274B-4A44-A9D8-E338FAEFBE9A}" dt="2026-05-18T20:09:05.350" v="170" actId="478"/>
          <ac:spMkLst>
            <pc:docMk/>
            <pc:sldMk cId="0" sldId="270"/>
            <ac:spMk id="28" creationId="{00000000-0000-0000-0000-000000000000}"/>
          </ac:spMkLst>
        </pc:spChg>
        <pc:spChg chg="del">
          <ac:chgData name="Acer Aspire" userId="748f8658868b742d" providerId="LiveId" clId="{22E8E200-274B-4A44-A9D8-E338FAEFBE9A}" dt="2026-05-18T20:09:06.525" v="171" actId="478"/>
          <ac:spMkLst>
            <pc:docMk/>
            <pc:sldMk cId="0" sldId="270"/>
            <ac:spMk id="29" creationId="{00000000-0000-0000-0000-000000000000}"/>
          </ac:spMkLst>
        </pc:spChg>
        <pc:spChg chg="mod ord">
          <ac:chgData name="Acer Aspire" userId="748f8658868b742d" providerId="LiveId" clId="{22E8E200-274B-4A44-A9D8-E338FAEFBE9A}" dt="2026-05-18T20:08:41.126" v="165" actId="207"/>
          <ac:spMkLst>
            <pc:docMk/>
            <pc:sldMk cId="0" sldId="270"/>
            <ac:spMk id="30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08:56.735" v="168" actId="1076"/>
          <ac:spMkLst>
            <pc:docMk/>
            <pc:sldMk cId="0" sldId="270"/>
            <ac:spMk id="31" creationId="{00000000-0000-0000-0000-000000000000}"/>
          </ac:spMkLst>
        </pc:spChg>
        <pc:spChg chg="del">
          <ac:chgData name="Acer Aspire" userId="748f8658868b742d" providerId="LiveId" clId="{22E8E200-274B-4A44-A9D8-E338FAEFBE9A}" dt="2026-05-18T20:09:51.002" v="180" actId="478"/>
          <ac:spMkLst>
            <pc:docMk/>
            <pc:sldMk cId="0" sldId="270"/>
            <ac:spMk id="32" creationId="{00000000-0000-0000-0000-000000000000}"/>
          </ac:spMkLst>
        </pc:spChg>
        <pc:spChg chg="del">
          <ac:chgData name="Acer Aspire" userId="748f8658868b742d" providerId="LiveId" clId="{22E8E200-274B-4A44-A9D8-E338FAEFBE9A}" dt="2026-05-18T20:09:51.685" v="181" actId="478"/>
          <ac:spMkLst>
            <pc:docMk/>
            <pc:sldMk cId="0" sldId="270"/>
            <ac:spMk id="33" creationId="{00000000-0000-0000-0000-000000000000}"/>
          </ac:spMkLst>
        </pc:spChg>
        <pc:spChg chg="mod ord">
          <ac:chgData name="Acer Aspire" userId="748f8658868b742d" providerId="LiveId" clId="{22E8E200-274B-4A44-A9D8-E338FAEFBE9A}" dt="2026-05-18T20:09:47.774" v="179" actId="1076"/>
          <ac:spMkLst>
            <pc:docMk/>
            <pc:sldMk cId="0" sldId="270"/>
            <ac:spMk id="34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09:55.978" v="182" actId="1076"/>
          <ac:spMkLst>
            <pc:docMk/>
            <pc:sldMk cId="0" sldId="270"/>
            <ac:spMk id="35" creationId="{00000000-0000-0000-0000-000000000000}"/>
          </ac:spMkLst>
        </pc:spChg>
        <pc:spChg chg="del mod">
          <ac:chgData name="Acer Aspire" userId="748f8658868b742d" providerId="LiveId" clId="{22E8E200-274B-4A44-A9D8-E338FAEFBE9A}" dt="2026-05-18T20:10:59.756" v="198" actId="478"/>
          <ac:spMkLst>
            <pc:docMk/>
            <pc:sldMk cId="0" sldId="270"/>
            <ac:spMk id="36" creationId="{00000000-0000-0000-0000-000000000000}"/>
          </ac:spMkLst>
        </pc:spChg>
        <pc:spChg chg="del">
          <ac:chgData name="Acer Aspire" userId="748f8658868b742d" providerId="LiveId" clId="{22E8E200-274B-4A44-A9D8-E338FAEFBE9A}" dt="2026-05-18T20:11:00.258" v="199" actId="478"/>
          <ac:spMkLst>
            <pc:docMk/>
            <pc:sldMk cId="0" sldId="270"/>
            <ac:spMk id="37" creationId="{00000000-0000-0000-0000-000000000000}"/>
          </ac:spMkLst>
        </pc:spChg>
        <pc:spChg chg="mod ord">
          <ac:chgData name="Acer Aspire" userId="748f8658868b742d" providerId="LiveId" clId="{22E8E200-274B-4A44-A9D8-E338FAEFBE9A}" dt="2026-05-18T20:17:48.761" v="263" actId="207"/>
          <ac:spMkLst>
            <pc:docMk/>
            <pc:sldMk cId="0" sldId="270"/>
            <ac:spMk id="38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11:14.326" v="201" actId="1076"/>
          <ac:spMkLst>
            <pc:docMk/>
            <pc:sldMk cId="0" sldId="270"/>
            <ac:spMk id="39" creationId="{00000000-0000-0000-0000-000000000000}"/>
          </ac:spMkLst>
        </pc:spChg>
        <pc:spChg chg="del">
          <ac:chgData name="Acer Aspire" userId="748f8658868b742d" providerId="LiveId" clId="{22E8E200-274B-4A44-A9D8-E338FAEFBE9A}" dt="2026-05-18T20:15:38.390" v="239" actId="478"/>
          <ac:spMkLst>
            <pc:docMk/>
            <pc:sldMk cId="0" sldId="270"/>
            <ac:spMk id="40" creationId="{00000000-0000-0000-0000-000000000000}"/>
          </ac:spMkLst>
        </pc:spChg>
        <pc:spChg chg="del">
          <ac:chgData name="Acer Aspire" userId="748f8658868b742d" providerId="LiveId" clId="{22E8E200-274B-4A44-A9D8-E338FAEFBE9A}" dt="2026-05-18T20:15:37.718" v="238" actId="478"/>
          <ac:spMkLst>
            <pc:docMk/>
            <pc:sldMk cId="0" sldId="270"/>
            <ac:spMk id="41" creationId="{00000000-0000-0000-0000-000000000000}"/>
          </ac:spMkLst>
        </pc:spChg>
        <pc:spChg chg="mod ord">
          <ac:chgData name="Acer Aspire" userId="748f8658868b742d" providerId="LiveId" clId="{22E8E200-274B-4A44-A9D8-E338FAEFBE9A}" dt="2026-05-18T20:15:42.565" v="240" actId="1076"/>
          <ac:spMkLst>
            <pc:docMk/>
            <pc:sldMk cId="0" sldId="270"/>
            <ac:spMk id="42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15:24.555" v="235" actId="1076"/>
          <ac:spMkLst>
            <pc:docMk/>
            <pc:sldMk cId="0" sldId="270"/>
            <ac:spMk id="43" creationId="{00000000-0000-0000-0000-000000000000}"/>
          </ac:spMkLst>
        </pc:spChg>
        <pc:spChg chg="del">
          <ac:chgData name="Acer Aspire" userId="748f8658868b742d" providerId="LiveId" clId="{22E8E200-274B-4A44-A9D8-E338FAEFBE9A}" dt="2026-05-18T20:19:35.877" v="288" actId="478"/>
          <ac:spMkLst>
            <pc:docMk/>
            <pc:sldMk cId="0" sldId="270"/>
            <ac:spMk id="44" creationId="{00000000-0000-0000-0000-000000000000}"/>
          </ac:spMkLst>
        </pc:spChg>
        <pc:spChg chg="del">
          <ac:chgData name="Acer Aspire" userId="748f8658868b742d" providerId="LiveId" clId="{22E8E200-274B-4A44-A9D8-E338FAEFBE9A}" dt="2026-05-18T20:19:36.578" v="289" actId="478"/>
          <ac:spMkLst>
            <pc:docMk/>
            <pc:sldMk cId="0" sldId="270"/>
            <ac:spMk id="45" creationId="{00000000-0000-0000-0000-000000000000}"/>
          </ac:spMkLst>
        </pc:spChg>
        <pc:spChg chg="mod ord">
          <ac:chgData name="Acer Aspire" userId="748f8658868b742d" providerId="LiveId" clId="{22E8E200-274B-4A44-A9D8-E338FAEFBE9A}" dt="2026-05-18T20:16:21.013" v="250" actId="1076"/>
          <ac:spMkLst>
            <pc:docMk/>
            <pc:sldMk cId="0" sldId="270"/>
            <ac:spMk id="46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16:27.241" v="251" actId="1076"/>
          <ac:spMkLst>
            <pc:docMk/>
            <pc:sldMk cId="0" sldId="270"/>
            <ac:spMk id="47" creationId="{00000000-0000-0000-0000-000000000000}"/>
          </ac:spMkLst>
        </pc:spChg>
        <pc:spChg chg="del">
          <ac:chgData name="Acer Aspire" userId="748f8658868b742d" providerId="LiveId" clId="{22E8E200-274B-4A44-A9D8-E338FAEFBE9A}" dt="2026-05-18T20:19:37" v="290" actId="478"/>
          <ac:spMkLst>
            <pc:docMk/>
            <pc:sldMk cId="0" sldId="270"/>
            <ac:spMk id="48" creationId="{00000000-0000-0000-0000-000000000000}"/>
          </ac:spMkLst>
        </pc:spChg>
        <pc:spChg chg="del">
          <ac:chgData name="Acer Aspire" userId="748f8658868b742d" providerId="LiveId" clId="{22E8E200-274B-4A44-A9D8-E338FAEFBE9A}" dt="2026-05-18T20:19:37.587" v="291" actId="478"/>
          <ac:spMkLst>
            <pc:docMk/>
            <pc:sldMk cId="0" sldId="270"/>
            <ac:spMk id="49" creationId="{00000000-0000-0000-0000-000000000000}"/>
          </ac:spMkLst>
        </pc:spChg>
        <pc:spChg chg="mod ord">
          <ac:chgData name="Acer Aspire" userId="748f8658868b742d" providerId="LiveId" clId="{22E8E200-274B-4A44-A9D8-E338FAEFBE9A}" dt="2026-05-18T20:18:37.388" v="275" actId="1076"/>
          <ac:spMkLst>
            <pc:docMk/>
            <pc:sldMk cId="0" sldId="270"/>
            <ac:spMk id="50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18:45.028" v="276" actId="1076"/>
          <ac:spMkLst>
            <pc:docMk/>
            <pc:sldMk cId="0" sldId="270"/>
            <ac:spMk id="51" creationId="{00000000-0000-0000-0000-000000000000}"/>
          </ac:spMkLst>
        </pc:spChg>
        <pc:spChg chg="del">
          <ac:chgData name="Acer Aspire" userId="748f8658868b742d" providerId="LiveId" clId="{22E8E200-274B-4A44-A9D8-E338FAEFBE9A}" dt="2026-05-18T20:19:38.569" v="293" actId="478"/>
          <ac:spMkLst>
            <pc:docMk/>
            <pc:sldMk cId="0" sldId="270"/>
            <ac:spMk id="52" creationId="{00000000-0000-0000-0000-000000000000}"/>
          </ac:spMkLst>
        </pc:spChg>
        <pc:spChg chg="del">
          <ac:chgData name="Acer Aspire" userId="748f8658868b742d" providerId="LiveId" clId="{22E8E200-274B-4A44-A9D8-E338FAEFBE9A}" dt="2026-05-18T20:19:38.132" v="292" actId="478"/>
          <ac:spMkLst>
            <pc:docMk/>
            <pc:sldMk cId="0" sldId="270"/>
            <ac:spMk id="53" creationId="{00000000-0000-0000-0000-000000000000}"/>
          </ac:spMkLst>
        </pc:spChg>
        <pc:spChg chg="mod ord">
          <ac:chgData name="Acer Aspire" userId="748f8658868b742d" providerId="LiveId" clId="{22E8E200-274B-4A44-A9D8-E338FAEFBE9A}" dt="2026-05-18T20:19:28.602" v="286" actId="1076"/>
          <ac:spMkLst>
            <pc:docMk/>
            <pc:sldMk cId="0" sldId="270"/>
            <ac:spMk id="54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20:17.290" v="301" actId="1076"/>
          <ac:spMkLst>
            <pc:docMk/>
            <pc:sldMk cId="0" sldId="270"/>
            <ac:spMk id="55" creationId="{00000000-0000-0000-0000-000000000000}"/>
          </ac:spMkLst>
        </pc:spChg>
        <pc:spChg chg="del">
          <ac:chgData name="Acer Aspire" userId="748f8658868b742d" providerId="LiveId" clId="{22E8E200-274B-4A44-A9D8-E338FAEFBE9A}" dt="2026-05-18T20:21:16.873" v="314" actId="478"/>
          <ac:spMkLst>
            <pc:docMk/>
            <pc:sldMk cId="0" sldId="270"/>
            <ac:spMk id="56" creationId="{00000000-0000-0000-0000-000000000000}"/>
          </ac:spMkLst>
        </pc:spChg>
        <pc:spChg chg="del">
          <ac:chgData name="Acer Aspire" userId="748f8658868b742d" providerId="LiveId" clId="{22E8E200-274B-4A44-A9D8-E338FAEFBE9A}" dt="2026-05-18T20:21:17.769" v="315" actId="478"/>
          <ac:spMkLst>
            <pc:docMk/>
            <pc:sldMk cId="0" sldId="270"/>
            <ac:spMk id="57" creationId="{00000000-0000-0000-0000-000000000000}"/>
          </ac:spMkLst>
        </pc:spChg>
        <pc:spChg chg="mod ord">
          <ac:chgData name="Acer Aspire" userId="748f8658868b742d" providerId="LiveId" clId="{22E8E200-274B-4A44-A9D8-E338FAEFBE9A}" dt="2026-05-18T20:21:14.342" v="313" actId="1076"/>
          <ac:spMkLst>
            <pc:docMk/>
            <pc:sldMk cId="0" sldId="270"/>
            <ac:spMk id="58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13:40.468" v="223" actId="1076"/>
          <ac:spMkLst>
            <pc:docMk/>
            <pc:sldMk cId="0" sldId="270"/>
            <ac:spMk id="59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13:36.706" v="222" actId="1076"/>
          <ac:spMkLst>
            <pc:docMk/>
            <pc:sldMk cId="0" sldId="270"/>
            <ac:spMk id="60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13:42.998" v="224" actId="1076"/>
          <ac:spMkLst>
            <pc:docMk/>
            <pc:sldMk cId="0" sldId="270"/>
            <ac:spMk id="61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13:47.304" v="225" actId="1076"/>
          <ac:spMkLst>
            <pc:docMk/>
            <pc:sldMk cId="0" sldId="270"/>
            <ac:spMk id="62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13:51.866" v="226" actId="1076"/>
          <ac:spMkLst>
            <pc:docMk/>
            <pc:sldMk cId="0" sldId="270"/>
            <ac:spMk id="63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13:54.817" v="227" actId="1076"/>
          <ac:spMkLst>
            <pc:docMk/>
            <pc:sldMk cId="0" sldId="270"/>
            <ac:spMk id="64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13:58.148" v="228" actId="1076"/>
          <ac:spMkLst>
            <pc:docMk/>
            <pc:sldMk cId="0" sldId="270"/>
            <ac:spMk id="65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21:39.101" v="318" actId="1076"/>
          <ac:spMkLst>
            <pc:docMk/>
            <pc:sldMk cId="0" sldId="270"/>
            <ac:spMk id="66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21:44.383" v="319" actId="1076"/>
          <ac:spMkLst>
            <pc:docMk/>
            <pc:sldMk cId="0" sldId="270"/>
            <ac:spMk id="67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21:47.834" v="320" actId="1076"/>
          <ac:spMkLst>
            <pc:docMk/>
            <pc:sldMk cId="0" sldId="270"/>
            <ac:spMk id="68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22:15.735" v="325" actId="1076"/>
          <ac:spMkLst>
            <pc:docMk/>
            <pc:sldMk cId="0" sldId="270"/>
            <ac:spMk id="69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21:59.704" v="322" actId="1076"/>
          <ac:spMkLst>
            <pc:docMk/>
            <pc:sldMk cId="0" sldId="270"/>
            <ac:spMk id="70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22:03.737" v="323" actId="1076"/>
          <ac:spMkLst>
            <pc:docMk/>
            <pc:sldMk cId="0" sldId="270"/>
            <ac:spMk id="71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22:07.337" v="324" actId="1076"/>
          <ac:spMkLst>
            <pc:docMk/>
            <pc:sldMk cId="0" sldId="270"/>
            <ac:spMk id="72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23:13.825" v="335" actId="1076"/>
          <ac:spMkLst>
            <pc:docMk/>
            <pc:sldMk cId="0" sldId="270"/>
            <ac:spMk id="73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22:34.041" v="327" actId="1076"/>
          <ac:spMkLst>
            <pc:docMk/>
            <pc:sldMk cId="0" sldId="270"/>
            <ac:spMk id="74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22:42.282" v="329" actId="1076"/>
          <ac:spMkLst>
            <pc:docMk/>
            <pc:sldMk cId="0" sldId="270"/>
            <ac:spMk id="75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22:51.676" v="330" actId="1076"/>
          <ac:spMkLst>
            <pc:docMk/>
            <pc:sldMk cId="0" sldId="270"/>
            <ac:spMk id="76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23:07.911" v="331" actId="1076"/>
          <ac:spMkLst>
            <pc:docMk/>
            <pc:sldMk cId="0" sldId="270"/>
            <ac:spMk id="77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23:18.003" v="336" actId="1076"/>
          <ac:spMkLst>
            <pc:docMk/>
            <pc:sldMk cId="0" sldId="270"/>
            <ac:spMk id="78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23:24.314" v="337" actId="1076"/>
          <ac:spMkLst>
            <pc:docMk/>
            <pc:sldMk cId="0" sldId="270"/>
            <ac:spMk id="79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23:29.175" v="338" actId="1076"/>
          <ac:spMkLst>
            <pc:docMk/>
            <pc:sldMk cId="0" sldId="270"/>
            <ac:spMk id="80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24:58.238" v="346" actId="1076"/>
          <ac:spMkLst>
            <pc:docMk/>
            <pc:sldMk cId="0" sldId="270"/>
            <ac:spMk id="81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23:51.447" v="341" actId="1076"/>
          <ac:spMkLst>
            <pc:docMk/>
            <pc:sldMk cId="0" sldId="270"/>
            <ac:spMk id="82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23:57.278" v="342" actId="1076"/>
          <ac:spMkLst>
            <pc:docMk/>
            <pc:sldMk cId="0" sldId="270"/>
            <ac:spMk id="83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24:04.010" v="343" actId="1076"/>
          <ac:spMkLst>
            <pc:docMk/>
            <pc:sldMk cId="0" sldId="270"/>
            <ac:spMk id="84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24:09.474" v="344" actId="1076"/>
          <ac:spMkLst>
            <pc:docMk/>
            <pc:sldMk cId="0" sldId="270"/>
            <ac:spMk id="85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24:15.378" v="345" actId="1076"/>
          <ac:spMkLst>
            <pc:docMk/>
            <pc:sldMk cId="0" sldId="270"/>
            <ac:spMk id="86" creationId="{00000000-0000-0000-0000-000000000000}"/>
          </ac:spMkLst>
        </pc:spChg>
        <pc:spChg chg="del">
          <ac:chgData name="Acer Aspire" userId="748f8658868b742d" providerId="LiveId" clId="{22E8E200-274B-4A44-A9D8-E338FAEFBE9A}" dt="2026-05-18T20:00:23.803" v="73" actId="478"/>
          <ac:spMkLst>
            <pc:docMk/>
            <pc:sldMk cId="0" sldId="270"/>
            <ac:spMk id="87" creationId="{00000000-0000-0000-0000-000000000000}"/>
          </ac:spMkLst>
        </pc:spChg>
        <pc:spChg chg="add del mod">
          <ac:chgData name="Acer Aspire" userId="748f8658868b742d" providerId="LiveId" clId="{22E8E200-274B-4A44-A9D8-E338FAEFBE9A}" dt="2026-05-18T20:21:26.592" v="316" actId="1076"/>
          <ac:spMkLst>
            <pc:docMk/>
            <pc:sldMk cId="0" sldId="270"/>
            <ac:spMk id="88" creationId="{00000000-0000-0000-0000-000000000000}"/>
          </ac:spMkLst>
        </pc:spChg>
        <pc:spChg chg="mod">
          <ac:chgData name="Acer Aspire" userId="748f8658868b742d" providerId="LiveId" clId="{22E8E200-274B-4A44-A9D8-E338FAEFBE9A}" dt="2026-05-18T20:21:32.483" v="317" actId="1076"/>
          <ac:spMkLst>
            <pc:docMk/>
            <pc:sldMk cId="0" sldId="270"/>
            <ac:spMk id="89" creationId="{00000000-0000-0000-0000-000000000000}"/>
          </ac:spMkLst>
        </pc:spChg>
        <pc:spChg chg="add mod">
          <ac:chgData name="Acer Aspire" userId="748f8658868b742d" providerId="LiveId" clId="{22E8E200-274B-4A44-A9D8-E338FAEFBE9A}" dt="2026-05-18T20:01:38.630" v="93" actId="1076"/>
          <ac:spMkLst>
            <pc:docMk/>
            <pc:sldMk cId="0" sldId="270"/>
            <ac:spMk id="90" creationId="{8737CCC3-10A4-0F24-8A9B-BCEF4AF3F55F}"/>
          </ac:spMkLst>
        </pc:spChg>
        <pc:spChg chg="add mod ord">
          <ac:chgData name="Acer Aspire" userId="748f8658868b742d" providerId="LiveId" clId="{22E8E200-274B-4A44-A9D8-E338FAEFBE9A}" dt="2026-05-18T19:55:47.789" v="43" actId="1076"/>
          <ac:spMkLst>
            <pc:docMk/>
            <pc:sldMk cId="0" sldId="270"/>
            <ac:spMk id="91" creationId="{0F3B98A2-FA93-B196-D883-FC0C84CC198A}"/>
          </ac:spMkLst>
        </pc:spChg>
        <pc:spChg chg="add mod">
          <ac:chgData name="Acer Aspire" userId="748f8658868b742d" providerId="LiveId" clId="{22E8E200-274B-4A44-A9D8-E338FAEFBE9A}" dt="2026-05-18T20:17:05.603" v="256" actId="14100"/>
          <ac:spMkLst>
            <pc:docMk/>
            <pc:sldMk cId="0" sldId="270"/>
            <ac:spMk id="92" creationId="{09FF4A41-1278-0911-86B4-CD4C8A2CC2D6}"/>
          </ac:spMkLst>
        </pc:spChg>
        <pc:spChg chg="add mod ord">
          <ac:chgData name="Acer Aspire" userId="748f8658868b742d" providerId="LiveId" clId="{22E8E200-274B-4A44-A9D8-E338FAEFBE9A}" dt="2026-05-18T20:03:35.147" v="115" actId="14100"/>
          <ac:spMkLst>
            <pc:docMk/>
            <pc:sldMk cId="0" sldId="270"/>
            <ac:spMk id="93" creationId="{0CBD42D4-0D43-DFC8-4ADE-88E0C9A90518}"/>
          </ac:spMkLst>
        </pc:spChg>
        <pc:spChg chg="add mod">
          <ac:chgData name="Acer Aspire" userId="748f8658868b742d" providerId="LiveId" clId="{22E8E200-274B-4A44-A9D8-E338FAEFBE9A}" dt="2026-05-18T20:05:42.846" v="133" actId="1076"/>
          <ac:spMkLst>
            <pc:docMk/>
            <pc:sldMk cId="0" sldId="270"/>
            <ac:spMk id="94" creationId="{3ADF6C96-5A7B-B562-9DA1-BD83D62DF476}"/>
          </ac:spMkLst>
        </pc:spChg>
        <pc:spChg chg="add mod ord">
          <ac:chgData name="Acer Aspire" userId="748f8658868b742d" providerId="LiveId" clId="{22E8E200-274B-4A44-A9D8-E338FAEFBE9A}" dt="2026-05-18T20:04:48.693" v="126" actId="167"/>
          <ac:spMkLst>
            <pc:docMk/>
            <pc:sldMk cId="0" sldId="270"/>
            <ac:spMk id="95" creationId="{8D6CDCC9-6EF1-7AB1-FFC5-A69ED71ED485}"/>
          </ac:spMkLst>
        </pc:spChg>
        <pc:spChg chg="add mod">
          <ac:chgData name="Acer Aspire" userId="748f8658868b742d" providerId="LiveId" clId="{22E8E200-274B-4A44-A9D8-E338FAEFBE9A}" dt="2026-05-18T20:06:50.016" v="141" actId="1076"/>
          <ac:spMkLst>
            <pc:docMk/>
            <pc:sldMk cId="0" sldId="270"/>
            <ac:spMk id="96" creationId="{F4D9EBF2-28AC-F985-1EFB-AC06E45D9875}"/>
          </ac:spMkLst>
        </pc:spChg>
        <pc:spChg chg="add mod">
          <ac:chgData name="Acer Aspire" userId="748f8658868b742d" providerId="LiveId" clId="{22E8E200-274B-4A44-A9D8-E338FAEFBE9A}" dt="2026-05-18T20:14:18.621" v="230" actId="207"/>
          <ac:spMkLst>
            <pc:docMk/>
            <pc:sldMk cId="0" sldId="270"/>
            <ac:spMk id="97" creationId="{2109FA1E-B363-1DA8-5AEC-537048A855E1}"/>
          </ac:spMkLst>
        </pc:spChg>
        <pc:spChg chg="add mod ord">
          <ac:chgData name="Acer Aspire" userId="748f8658868b742d" providerId="LiveId" clId="{22E8E200-274B-4A44-A9D8-E338FAEFBE9A}" dt="2026-05-18T20:08:30.955" v="162" actId="14100"/>
          <ac:spMkLst>
            <pc:docMk/>
            <pc:sldMk cId="0" sldId="270"/>
            <ac:spMk id="98" creationId="{95C72994-D07F-D401-E766-A62EAD6E6406}"/>
          </ac:spMkLst>
        </pc:spChg>
        <pc:spChg chg="add mod">
          <ac:chgData name="Acer Aspire" userId="748f8658868b742d" providerId="LiveId" clId="{22E8E200-274B-4A44-A9D8-E338FAEFBE9A}" dt="2026-05-18T20:08:15.316" v="158" actId="1076"/>
          <ac:spMkLst>
            <pc:docMk/>
            <pc:sldMk cId="0" sldId="270"/>
            <ac:spMk id="99" creationId="{FCF26097-A7F8-547A-1ED0-773A65F337B5}"/>
          </ac:spMkLst>
        </pc:spChg>
        <pc:spChg chg="add mod">
          <ac:chgData name="Acer Aspire" userId="748f8658868b742d" providerId="LiveId" clId="{22E8E200-274B-4A44-A9D8-E338FAEFBE9A}" dt="2026-05-18T20:09:17.365" v="173" actId="1076"/>
          <ac:spMkLst>
            <pc:docMk/>
            <pc:sldMk cId="0" sldId="270"/>
            <ac:spMk id="100" creationId="{B2639352-FFDB-97A5-29F6-C0F74357D30D}"/>
          </ac:spMkLst>
        </pc:spChg>
        <pc:spChg chg="add mod">
          <ac:chgData name="Acer Aspire" userId="748f8658868b742d" providerId="LiveId" clId="{22E8E200-274B-4A44-A9D8-E338FAEFBE9A}" dt="2026-05-18T20:15:00.429" v="232" actId="207"/>
          <ac:spMkLst>
            <pc:docMk/>
            <pc:sldMk cId="0" sldId="270"/>
            <ac:spMk id="101" creationId="{BAF14DF3-4E1C-79FD-CDD9-93A54ABD2BF9}"/>
          </ac:spMkLst>
        </pc:spChg>
        <pc:spChg chg="add mod ord">
          <ac:chgData name="Acer Aspire" userId="748f8658868b742d" providerId="LiveId" clId="{22E8E200-274B-4A44-A9D8-E338FAEFBE9A}" dt="2026-05-18T20:10:36.500" v="190" actId="14100"/>
          <ac:spMkLst>
            <pc:docMk/>
            <pc:sldMk cId="0" sldId="270"/>
            <ac:spMk id="102" creationId="{18A9178C-7E90-003D-E7BA-21FDF71876F5}"/>
          </ac:spMkLst>
        </pc:spChg>
        <pc:spChg chg="add mod">
          <ac:chgData name="Acer Aspire" userId="748f8658868b742d" providerId="LiveId" clId="{22E8E200-274B-4A44-A9D8-E338FAEFBE9A}" dt="2026-05-18T20:10:19.917" v="186" actId="1076"/>
          <ac:spMkLst>
            <pc:docMk/>
            <pc:sldMk cId="0" sldId="270"/>
            <ac:spMk id="103" creationId="{5EE3B10E-ED7C-D8F0-41A6-D6812F13B772}"/>
          </ac:spMkLst>
        </pc:spChg>
        <pc:spChg chg="add mod">
          <ac:chgData name="Acer Aspire" userId="748f8658868b742d" providerId="LiveId" clId="{22E8E200-274B-4A44-A9D8-E338FAEFBE9A}" dt="2026-05-18T20:11:56.401" v="210" actId="1076"/>
          <ac:spMkLst>
            <pc:docMk/>
            <pc:sldMk cId="0" sldId="270"/>
            <ac:spMk id="104" creationId="{6AA5019C-42E2-091D-36B0-B7E284D82204}"/>
          </ac:spMkLst>
        </pc:spChg>
        <pc:spChg chg="add mod">
          <ac:chgData name="Acer Aspire" userId="748f8658868b742d" providerId="LiveId" clId="{22E8E200-274B-4A44-A9D8-E338FAEFBE9A}" dt="2026-05-18T20:15:08.203" v="234" actId="207"/>
          <ac:spMkLst>
            <pc:docMk/>
            <pc:sldMk cId="0" sldId="270"/>
            <ac:spMk id="105" creationId="{48C22D30-CF3E-EBC2-2E61-782C5E81B48C}"/>
          </ac:spMkLst>
        </pc:spChg>
        <pc:spChg chg="add mod">
          <ac:chgData name="Acer Aspire" userId="748f8658868b742d" providerId="LiveId" clId="{22E8E200-274B-4A44-A9D8-E338FAEFBE9A}" dt="2026-05-18T20:16:46.952" v="255" actId="1076"/>
          <ac:spMkLst>
            <pc:docMk/>
            <pc:sldMk cId="0" sldId="270"/>
            <ac:spMk id="106" creationId="{2C8C2AAF-871D-A375-5A55-F44BA6A0E635}"/>
          </ac:spMkLst>
        </pc:spChg>
        <pc:spChg chg="add mod">
          <ac:chgData name="Acer Aspire" userId="748f8658868b742d" providerId="LiveId" clId="{22E8E200-274B-4A44-A9D8-E338FAEFBE9A}" dt="2026-05-18T20:16:44.150" v="254" actId="1076"/>
          <ac:spMkLst>
            <pc:docMk/>
            <pc:sldMk cId="0" sldId="270"/>
            <ac:spMk id="107" creationId="{24253DE3-8E94-43F3-95DA-095E53FC4FB2}"/>
          </ac:spMkLst>
        </pc:spChg>
        <pc:spChg chg="add mod ord">
          <ac:chgData name="Acer Aspire" userId="748f8658868b742d" providerId="LiveId" clId="{22E8E200-274B-4A44-A9D8-E338FAEFBE9A}" dt="2026-05-18T20:18:22.223" v="271" actId="166"/>
          <ac:spMkLst>
            <pc:docMk/>
            <pc:sldMk cId="0" sldId="270"/>
            <ac:spMk id="108" creationId="{8E696826-6D5A-3B93-98BE-82D4F14A808D}"/>
          </ac:spMkLst>
        </pc:spChg>
        <pc:spChg chg="add mod">
          <ac:chgData name="Acer Aspire" userId="748f8658868b742d" providerId="LiveId" clId="{22E8E200-274B-4A44-A9D8-E338FAEFBE9A}" dt="2026-05-18T20:18:12.558" v="268" actId="14100"/>
          <ac:spMkLst>
            <pc:docMk/>
            <pc:sldMk cId="0" sldId="270"/>
            <ac:spMk id="109" creationId="{8296FC51-040D-9E73-DE0D-13D24128C369}"/>
          </ac:spMkLst>
        </pc:spChg>
        <pc:spChg chg="add mod">
          <ac:chgData name="Acer Aspire" userId="748f8658868b742d" providerId="LiveId" clId="{22E8E200-274B-4A44-A9D8-E338FAEFBE9A}" dt="2026-05-18T20:18:54.926" v="278" actId="1076"/>
          <ac:spMkLst>
            <pc:docMk/>
            <pc:sldMk cId="0" sldId="270"/>
            <ac:spMk id="110" creationId="{8D562346-F88A-078C-B0B7-EB0DC65AF16E}"/>
          </ac:spMkLst>
        </pc:spChg>
        <pc:spChg chg="add mod">
          <ac:chgData name="Acer Aspire" userId="748f8658868b742d" providerId="LiveId" clId="{22E8E200-274B-4A44-A9D8-E338FAEFBE9A}" dt="2026-05-18T20:19:32.419" v="287" actId="14100"/>
          <ac:spMkLst>
            <pc:docMk/>
            <pc:sldMk cId="0" sldId="270"/>
            <ac:spMk id="111" creationId="{4902FAD8-D46D-CB44-88F7-04E50CFFCD60}"/>
          </ac:spMkLst>
        </pc:spChg>
        <pc:spChg chg="add mod">
          <ac:chgData name="Acer Aspire" userId="748f8658868b742d" providerId="LiveId" clId="{22E8E200-274B-4A44-A9D8-E338FAEFBE9A}" dt="2026-05-18T20:20:32.789" v="303" actId="1076"/>
          <ac:spMkLst>
            <pc:docMk/>
            <pc:sldMk cId="0" sldId="270"/>
            <ac:spMk id="112" creationId="{58FB12C4-6B8B-0337-3A70-A52D7C73B0EA}"/>
          </ac:spMkLst>
        </pc:spChg>
        <pc:spChg chg="add mod">
          <ac:chgData name="Acer Aspire" userId="748f8658868b742d" providerId="LiveId" clId="{22E8E200-274B-4A44-A9D8-E338FAEFBE9A}" dt="2026-05-18T20:21:02.569" v="310" actId="14100"/>
          <ac:spMkLst>
            <pc:docMk/>
            <pc:sldMk cId="0" sldId="270"/>
            <ac:spMk id="113" creationId="{2A9A49CE-0E77-9C54-4DAD-139F8F6C3CA3}"/>
          </ac:spMkLst>
        </pc:spChg>
      </pc:sldChg>
      <pc:sldChg chg="modSp mod">
        <pc:chgData name="Acer Aspire" userId="748f8658868b742d" providerId="LiveId" clId="{22E8E200-274B-4A44-A9D8-E338FAEFBE9A}" dt="2026-05-18T20:25:12.957" v="347" actId="1076"/>
        <pc:sldMkLst>
          <pc:docMk/>
          <pc:sldMk cId="0" sldId="274"/>
        </pc:sldMkLst>
        <pc:spChg chg="mod">
          <ac:chgData name="Acer Aspire" userId="748f8658868b742d" providerId="LiveId" clId="{22E8E200-274B-4A44-A9D8-E338FAEFBE9A}" dt="2026-05-18T20:25:12.957" v="347" actId="1076"/>
          <ac:spMkLst>
            <pc:docMk/>
            <pc:sldMk cId="0" sldId="274"/>
            <ac:spMk id="42" creationId="{00000000-0000-0000-0000-000000000000}"/>
          </ac:spMkLst>
        </pc:spChg>
      </pc:sldChg>
      <pc:sldChg chg="delSp mod">
        <pc:chgData name="Acer Aspire" userId="748f8658868b742d" providerId="LiveId" clId="{22E8E200-274B-4A44-A9D8-E338FAEFBE9A}" dt="2026-05-17T07:00:55.911" v="5" actId="478"/>
        <pc:sldMkLst>
          <pc:docMk/>
          <pc:sldMk cId="0" sldId="275"/>
        </pc:sldMkLst>
        <pc:spChg chg="del">
          <ac:chgData name="Acer Aspire" userId="748f8658868b742d" providerId="LiveId" clId="{22E8E200-274B-4A44-A9D8-E338FAEFBE9A}" dt="2026-05-17T07:00:53.409" v="3" actId="478"/>
          <ac:spMkLst>
            <pc:docMk/>
            <pc:sldMk cId="0" sldId="275"/>
            <ac:spMk id="19" creationId="{00000000-0000-0000-0000-000000000000}"/>
          </ac:spMkLst>
        </pc:spChg>
        <pc:spChg chg="del">
          <ac:chgData name="Acer Aspire" userId="748f8658868b742d" providerId="LiveId" clId="{22E8E200-274B-4A44-A9D8-E338FAEFBE9A}" dt="2026-05-17T07:00:54.966" v="4" actId="478"/>
          <ac:spMkLst>
            <pc:docMk/>
            <pc:sldMk cId="0" sldId="275"/>
            <ac:spMk id="20" creationId="{00000000-0000-0000-0000-000000000000}"/>
          </ac:spMkLst>
        </pc:spChg>
        <pc:spChg chg="del">
          <ac:chgData name="Acer Aspire" userId="748f8658868b742d" providerId="LiveId" clId="{22E8E200-274B-4A44-A9D8-E338FAEFBE9A}" dt="2026-05-17T07:00:55.911" v="5" actId="478"/>
          <ac:spMkLst>
            <pc:docMk/>
            <pc:sldMk cId="0" sldId="275"/>
            <ac:spMk id="21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CLV Share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CF9-4185-AE5D-4DFAF5CFAA4A}"/>
              </c:ext>
            </c:extLst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CF9-4185-AE5D-4DFAF5CFAA4A}"/>
              </c:ext>
            </c:extLst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CF9-4185-AE5D-4DFAF5CFAA4A}"/>
              </c:ext>
            </c:extLst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CF9-4185-AE5D-4DFAF5CFAA4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Top 10%</c:v>
                </c:pt>
                <c:pt idx="1">
                  <c:v>Top 20%</c:v>
                </c:pt>
                <c:pt idx="2">
                  <c:v>Top 30%</c:v>
                </c:pt>
                <c:pt idx="3">
                  <c:v>Top 50%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27.6</c:v>
                </c:pt>
                <c:pt idx="1">
                  <c:v>46.4</c:v>
                </c:pt>
                <c:pt idx="2">
                  <c:v>60.8</c:v>
                </c:pt>
                <c:pt idx="3">
                  <c:v>81.8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CF9-4185-AE5D-4DFAF5CFAA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ID" sz="1200" b="0" i="0" u="none" strike="noStrike">
                <a:solidFill>
                  <a:srgbClr val="1E2761"/>
                </a:solidFill>
                <a:latin typeface="Arial"/>
              </a:rPr>
              <a:t>R² Score Comparison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D53-4B9D-AFF9-CDE078FF8FD2}"/>
              </c:ext>
            </c:extLst>
          </c:dPt>
          <c:dPt>
            <c:idx val="1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D53-4B9D-AFF9-CDE078FF8FD2}"/>
              </c:ext>
            </c:extLst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D53-4B9D-AFF9-CDE078FF8FD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
Regression</c:v>
                </c:pt>
                <c:pt idx="1">
                  <c:v>Gradient
Boosting</c:v>
                </c:pt>
                <c:pt idx="2">
                  <c:v>Random
Forest (tuned)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0.17</c:v>
                </c:pt>
                <c:pt idx="1">
                  <c:v>0.62</c:v>
                </c:pt>
                <c:pt idx="2">
                  <c:v>0.66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D53-4B9D-AFF9-CDE078FF8F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2809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-548640"/>
            <a:ext cx="3474720" cy="3474720"/>
          </a:xfrm>
          <a:prstGeom prst="ellipse">
            <a:avLst/>
          </a:prstGeom>
          <a:solidFill>
            <a:srgbClr val="1A3A7A">
              <a:alpha val="60000"/>
            </a:srgbClr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834640"/>
            <a:ext cx="2286000" cy="2286000"/>
          </a:xfrm>
          <a:prstGeom prst="ellipse">
            <a:avLst/>
          </a:prstGeom>
          <a:solidFill>
            <a:srgbClr val="152058">
              <a:alpha val="60000"/>
            </a:srgbClr>
          </a:solidFill>
          <a:ln w="12700">
            <a:solidFill>
              <a:srgbClr val="1520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669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50" dirty="0">
                <a:solidFill>
                  <a:srgbClr val="7EC8E3"/>
                </a:solidFill>
              </a:rPr>
              <a:t>CAPSTONE PROJECT  ·  JCDSOHAM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65836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Customer Lifetime</a:t>
            </a:r>
            <a:endParaRPr lang="en-US" sz="4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Value Prediction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74320" y="2606040"/>
            <a:ext cx="6400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D6E4F7"/>
                </a:solidFill>
              </a:rPr>
              <a:t>Predicting high-value insurance customers to optimize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D6E4F7"/>
                </a:solidFill>
              </a:rPr>
              <a:t>retention budget &amp; maximize long-term profitability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74320" y="3493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EC8E3"/>
                </a:solidFill>
              </a:rPr>
              <a:t>Risky Adipratama  ·  Insurance CLV Dataset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4041648"/>
            <a:ext cx="1920240" cy="822960"/>
          </a:xfrm>
          <a:prstGeom prst="rect">
            <a:avLst/>
          </a:prstGeom>
          <a:solidFill>
            <a:srgbClr val="13205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0782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5,669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" y="44439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C8E3"/>
                </a:solidFill>
              </a:rPr>
              <a:t>Customers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23160" y="4041648"/>
            <a:ext cx="1920240" cy="822960"/>
          </a:xfrm>
          <a:prstGeom prst="rect">
            <a:avLst/>
          </a:prstGeom>
          <a:solidFill>
            <a:srgbClr val="13205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40782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23160" y="44439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C8E3"/>
                </a:solidFill>
              </a:rPr>
              <a:t>Features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4041648"/>
            <a:ext cx="1920240" cy="822960"/>
          </a:xfrm>
          <a:prstGeom prst="rect">
            <a:avLst/>
          </a:prstGeom>
          <a:solidFill>
            <a:srgbClr val="13205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40782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R²=0.68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0" y="44439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C8E3"/>
                </a:solidFill>
              </a:rPr>
              <a:t>XGBoost Final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20840" y="4041648"/>
            <a:ext cx="1920240" cy="822960"/>
          </a:xfrm>
          <a:prstGeom prst="rect">
            <a:avLst/>
          </a:prstGeom>
          <a:solidFill>
            <a:srgbClr val="13205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40782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MAPE 14.9%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20840" y="44439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C8E3"/>
                </a:solidFill>
              </a:rPr>
              <a:t>Avg Error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3474720"/>
            <a:ext cx="3474720" cy="3474720"/>
          </a:xfrm>
          <a:prstGeom prst="ellipse">
            <a:avLst/>
          </a:prstGeom>
          <a:solidFill>
            <a:srgbClr val="172255">
              <a:alpha val="70000"/>
            </a:srgbClr>
          </a:solidFill>
          <a:ln w="12700">
            <a:solidFill>
              <a:srgbClr val="1722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731520"/>
            <a:ext cx="2743200" cy="2743200"/>
          </a:xfrm>
          <a:prstGeom prst="ellipse">
            <a:avLst/>
          </a:prstGeom>
          <a:solidFill>
            <a:srgbClr val="172255">
              <a:alpha val="70000"/>
            </a:srgbClr>
          </a:solidFill>
          <a:ln w="12700">
            <a:solidFill>
              <a:srgbClr val="1722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9260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5A7499"/>
                </a:solidFill>
              </a:rPr>
              <a:t>A B O U T   T H E   D A T A S E 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4206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A US Auto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Insurance Dataset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47472" y="1627632"/>
            <a:ext cx="4114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2000"/>
              </a:lnSpc>
              <a:buNone/>
            </a:pPr>
            <a:r>
              <a:rPr lang="en-US" sz="1050" dirty="0">
                <a:solidFill>
                  <a:srgbClr val="8A9BB5"/>
                </a:solidFill>
              </a:rPr>
              <a:t>This dataset comes from a US-based auto insurance company. It contains customer profiles, policy details, and historical claim records — covering individual policyholders across multiple vehicle classes and coverage types.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" y="2670048"/>
            <a:ext cx="1883664" cy="841248"/>
          </a:xfrm>
          <a:prstGeom prst="rect">
            <a:avLst/>
          </a:prstGeom>
          <a:solidFill>
            <a:srgbClr val="13205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77977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🚗  Auto Insurance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314553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</a:rPr>
              <a:t>Product category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59152" y="2670048"/>
            <a:ext cx="1883664" cy="841248"/>
          </a:xfrm>
          <a:prstGeom prst="rect">
            <a:avLst/>
          </a:prstGeom>
          <a:solidFill>
            <a:srgbClr val="13205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277977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🌐  B2C + Wholesale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87168" y="314553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82F6"/>
                </a:solidFill>
              </a:rPr>
              <a:t>Customer mix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3611880"/>
            <a:ext cx="1883664" cy="841248"/>
          </a:xfrm>
          <a:prstGeom prst="rect">
            <a:avLst/>
          </a:prstGeom>
          <a:solidFill>
            <a:srgbClr val="132050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72160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🇺🇸  US-based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408736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766E"/>
                </a:solidFill>
              </a:rPr>
              <a:t>HQ &amp; main market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59152" y="3611880"/>
            <a:ext cx="1883664" cy="841248"/>
          </a:xfrm>
          <a:prstGeom prst="rect">
            <a:avLst/>
          </a:prstGeom>
          <a:solidFill>
            <a:srgbClr val="13205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87168" y="372160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 CRM-sourced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87168" y="408736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7706"/>
                </a:solidFill>
              </a:rPr>
              <a:t>Data origin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182880"/>
            <a:ext cx="0" cy="4754880"/>
          </a:xfrm>
          <a:prstGeom prst="line">
            <a:avLst/>
          </a:prstGeom>
          <a:noFill/>
          <a:ln w="12700">
            <a:solidFill>
              <a:srgbClr val="2A3D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8032" y="182880"/>
            <a:ext cx="4133088" cy="1060704"/>
          </a:xfrm>
          <a:prstGeom prst="rect">
            <a:avLst/>
          </a:prstGeom>
          <a:solidFill>
            <a:srgbClr val="111E34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37744"/>
            <a:ext cx="4133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C2626"/>
                </a:solidFill>
              </a:rPr>
              <a:t>5,669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4828032" y="914400"/>
            <a:ext cx="4133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BB5"/>
                </a:solidFill>
              </a:rPr>
              <a:t>Customer records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28032" y="1335024"/>
            <a:ext cx="4133088" cy="1060704"/>
          </a:xfrm>
          <a:prstGeom prst="rect">
            <a:avLst/>
          </a:prstGeom>
          <a:solidFill>
            <a:srgbClr val="111E34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1389888"/>
            <a:ext cx="4133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F766E"/>
                </a:solidFill>
              </a:rPr>
              <a:t>11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4828032" y="2066544"/>
            <a:ext cx="4133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BB5"/>
                </a:solidFill>
              </a:rPr>
              <a:t>Feature columns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28032" y="2487168"/>
            <a:ext cx="4133088" cy="1060704"/>
          </a:xfrm>
          <a:prstGeom prst="rect">
            <a:avLst/>
          </a:prstGeom>
          <a:solidFill>
            <a:srgbClr val="111E3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2542032"/>
            <a:ext cx="4133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B82F6"/>
                </a:solidFill>
              </a:rPr>
              <a:t>$8,030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4828032" y="3218688"/>
            <a:ext cx="4133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BB5"/>
                </a:solidFill>
              </a:rPr>
              <a:t>Mean CLV (USD)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28032" y="3639312"/>
            <a:ext cx="4133088" cy="1060704"/>
          </a:xfrm>
          <a:prstGeom prst="rect">
            <a:avLst/>
          </a:prstGeom>
          <a:solidFill>
            <a:srgbClr val="111E34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3694176"/>
            <a:ext cx="4133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7706"/>
                </a:solidFill>
              </a:rPr>
              <a:t>6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4828032" y="4370832"/>
            <a:ext cx="4133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BB5"/>
                </a:solidFill>
              </a:rPr>
              <a:t>Vehicle classes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87552"/>
            <a:ext cx="50292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87552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115568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Business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Why CLV prediction matters &amp; stakeholder context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87552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87552"/>
            <a:ext cx="50292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87552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1115568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Dataset Overview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463040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About the data — columns, quality &amp; key stats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286000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286000"/>
            <a:ext cx="50292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28600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414016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761488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AHA moments from exploratory analysis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86000"/>
            <a:ext cx="50292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28600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2414016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Modeling &amp; Tuning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2761488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RF baseline → Re-Tuning → XGBoost final model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584448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584448"/>
            <a:ext cx="50292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584448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712464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Business Impact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4059936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Pareto, segmentation &amp; ROI simulation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84448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84448"/>
            <a:ext cx="50292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584448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3712464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4059936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Recommendations &amp; model limitations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737360" cy="347472"/>
          </a:xfrm>
          <a:prstGeom prst="roundRect">
            <a:avLst>
              <a:gd name="adj" fmla="val 1052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6E4F7"/>
                </a:solidFill>
              </a:rPr>
              <a:t>01  BUSINESS PROBLEM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194560" y="73152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Business Problem &amp; Stakeholders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77824"/>
            <a:ext cx="27889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77824"/>
            <a:ext cx="27889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97840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82F6"/>
                </a:solidFill>
              </a:rPr>
              <a:t>Stakeholder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2336" y="1298448"/>
            <a:ext cx="2532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Head of Marketing</a:t>
            </a:r>
            <a:endParaRPr lang="en-US" sz="120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CRM Team · CFO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877824"/>
            <a:ext cx="27889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77824"/>
            <a:ext cx="278892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97840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</a:rPr>
              <a:t>The Problem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28416" y="1298448"/>
            <a:ext cx="2532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No systematic way to</a:t>
            </a:r>
            <a:endParaRPr lang="en-US" sz="120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predict CLV at onboarding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877824"/>
            <a:ext cx="27889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877824"/>
            <a:ext cx="27889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97840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</a:rPr>
              <a:t>Business Risk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54496" y="1298448"/>
            <a:ext cx="2532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Retention budget</a:t>
            </a:r>
            <a:endParaRPr lang="en-US" sz="120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allocated equally to all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239572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Why It Matters — The Cost of Not Knowing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74320" y="2167128"/>
            <a:ext cx="859536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2000"/>
              </a:lnSpc>
              <a:buNone/>
            </a:pPr>
            <a:r>
              <a:rPr lang="en-US" sz="1100" b="1" dirty="0">
                <a:solidFill>
                  <a:srgbClr val="3B82F6"/>
                </a:solidFill>
              </a:rPr>
              <a:t>▸  </a:t>
            </a:r>
            <a:r>
              <a:rPr lang="en-US" sz="1100" dirty="0">
                <a:solidFill>
                  <a:srgbClr val="1E293B"/>
                </a:solidFill>
              </a:rPr>
              <a:t>Top 20% of customers contribute ~46% of total CLV — but receive the same treatment as everyone else</a:t>
            </a:r>
            <a:endParaRPr lang="en-US" sz="1100" dirty="0"/>
          </a:p>
          <a:p>
            <a:pPr marL="0" indent="0">
              <a:lnSpc>
                <a:spcPct val="162000"/>
              </a:lnSpc>
              <a:buNone/>
            </a:pPr>
            <a:r>
              <a:rPr lang="en-US" sz="1100" b="1" dirty="0">
                <a:solidFill>
                  <a:srgbClr val="3B82F6"/>
                </a:solidFill>
              </a:rPr>
              <a:t>▸  </a:t>
            </a:r>
            <a:r>
              <a:rPr lang="en-US" sz="1100" dirty="0">
                <a:solidFill>
                  <a:srgbClr val="1E293B"/>
                </a:solidFill>
              </a:rPr>
              <a:t>Mean CLV = $8,030 · range $1,898–$83,325 — a 44× gap that demands differentiated strategy</a:t>
            </a:r>
            <a:endParaRPr lang="en-US" sz="1100" dirty="0"/>
          </a:p>
          <a:p>
            <a:pPr marL="0" indent="0">
              <a:lnSpc>
                <a:spcPct val="162000"/>
              </a:lnSpc>
              <a:buNone/>
            </a:pPr>
            <a:r>
              <a:rPr lang="en-US" sz="1100" b="1" dirty="0">
                <a:solidFill>
                  <a:srgbClr val="3B82F6"/>
                </a:solidFill>
              </a:rPr>
              <a:t>▸  </a:t>
            </a:r>
            <a:r>
              <a:rPr lang="en-US" sz="1100" dirty="0">
                <a:solidFill>
                  <a:srgbClr val="1E293B"/>
                </a:solidFill>
              </a:rPr>
              <a:t>Acquiring a new customer costs ~5× more than retaining one — mis-allocated spend is provably costly</a:t>
            </a:r>
            <a:endParaRPr lang="en-US" sz="1100" dirty="0"/>
          </a:p>
          <a:p>
            <a:pPr marL="0" indent="0">
              <a:lnSpc>
                <a:spcPct val="162000"/>
              </a:lnSpc>
              <a:buNone/>
            </a:pPr>
            <a:r>
              <a:rPr lang="en-US" sz="1100" b="1" dirty="0">
                <a:solidFill>
                  <a:srgbClr val="3B82F6"/>
                </a:solidFill>
              </a:rPr>
              <a:t>▸  </a:t>
            </a:r>
            <a:r>
              <a:rPr lang="en-US" sz="1100" dirty="0">
                <a:solidFill>
                  <a:srgbClr val="1E293B"/>
                </a:solidFill>
              </a:rPr>
              <a:t>Goal: predict CLV at onboarding to optimise retention investment, upselling priorities &amp; tier assignment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828800" cy="347472"/>
          </a:xfrm>
          <a:prstGeom prst="roundRect">
            <a:avLst>
              <a:gd name="adj" fmla="val 1052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6E4F7"/>
                </a:solidFill>
              </a:rPr>
              <a:t>02  DATASET OVERVIEW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0" y="73152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Overview — Column Dictionary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77824"/>
            <a:ext cx="1938528" cy="8778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77824"/>
            <a:ext cx="1938528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87552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</a:rPr>
              <a:t>5,669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4320" y="144475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Total Rows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877824"/>
            <a:ext cx="1938528" cy="8778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877824"/>
            <a:ext cx="193852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987552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</a:rPr>
              <a:t>11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23160" y="144475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Total Columns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877824"/>
            <a:ext cx="1938528" cy="8778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877824"/>
            <a:ext cx="1938528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987552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766E"/>
                </a:solidFill>
              </a:rPr>
              <a:t>$8,030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0" y="144475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Mean CLV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20840" y="877824"/>
            <a:ext cx="1938528" cy="8778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0840" y="877824"/>
            <a:ext cx="1938528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987552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</a:rPr>
              <a:t>0 Missing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720840" y="144475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Clean CRM Data</a:t>
            </a:r>
            <a:endParaRPr lang="en-US" sz="9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883664"/>
          <a:ext cx="8595360" cy="292608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64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Business Relevance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Vehicle Class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str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Luxury vehicle = CLV 2.67× average — strongest visual segment differentiator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Coverage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str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Premium coverage = CLV 1.56× Basic — signals willingness-to-pay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Renew Offer Type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str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Influences long-term renewal decisions and CLV trajectory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Employment Status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str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Income stability → long-term premium payment capacity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Num. Policies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float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Predictor #1 CLV (47% importance) — 2 policies = CLV peak, 2× uplift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Monthly Premium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float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Predictor #2 CLV (27% importance) — direct revenue source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Total Claim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float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Profitability proxy — high claim ratio = less profitable customer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Income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float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Financial capacity for coverage upgrade &amp; multi-policy purchase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CLV (TARGET)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float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Continuous target variable · range: $1,898 – $83,325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554480" cy="347472"/>
          </a:xfrm>
          <a:prstGeom prst="roundRect">
            <a:avLst>
              <a:gd name="adj" fmla="val 1052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6E4F7"/>
                </a:solidFill>
              </a:rPr>
              <a:t>03  KEY FINDINGS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011680" y="73152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Business Findings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2788920" cy="4005072"/>
          </a:xfrm>
          <a:prstGeom prst="rect">
            <a:avLst/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96112"/>
            <a:ext cx="278892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" y="1060704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060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50976" y="1042416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Mass Retention = Inefficient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164592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C2626"/>
                </a:solidFill>
              </a:rPr>
              <a:t>46%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84048" y="233172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of top 20% CLV share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2336" y="2651760"/>
            <a:ext cx="2542032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743200"/>
            <a:ext cx="2542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Top 20% of customers drive ~46% of total CLV. Same budget for all means 80% of spend protects only 54% of value.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896112"/>
            <a:ext cx="2788920" cy="4005072"/>
          </a:xfrm>
          <a:prstGeom prst="rect">
            <a:avLst/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896112"/>
            <a:ext cx="27889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28416" y="1060704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28416" y="1060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77056" y="1028701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Luxury Vehicle = 2.67× CLV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10128" y="164592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7706"/>
                </a:solidFill>
              </a:rPr>
              <a:t>2.67×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3310128" y="233172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CLV lift vs standard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28416" y="2651760"/>
            <a:ext cx="2542032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2743200"/>
            <a:ext cx="2542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Luxury SUV mean CLV $18,990 vs $7,120 for Four-Door Car. Vehicle class is the most visible high-value segment signal.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896112"/>
            <a:ext cx="2788920" cy="4005072"/>
          </a:xfrm>
          <a:prstGeom prst="rect">
            <a:avLst/>
          </a:prstGeom>
          <a:solidFill>
            <a:srgbClr val="F1F5F9"/>
          </a:solidFill>
          <a:ln w="12700">
            <a:solidFill>
              <a:srgbClr val="0F766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896112"/>
            <a:ext cx="278892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54496" y="1060704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1060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03136" y="1037844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2 Policies = CLV Peak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36208" y="164592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F766E"/>
                </a:solidFill>
              </a:rPr>
              <a:t>1.9×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6236208" y="233172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CLV lift 1→2 policies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54496" y="2651760"/>
            <a:ext cx="2542032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2743200"/>
            <a:ext cx="2542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Cross-selling from 1 to 2 policies nearly doubles CLV. Beyond 2 policies the curve plateaus — 1→2 is highest ROI action.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97180" y="48878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761"/>
                </a:solidFill>
              </a:rPr>
              <a:t>These findings prove undifferentiated retention is provably wasteful — ML-based CLV prediction is the critical lever.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828800" cy="347472"/>
          </a:xfrm>
          <a:prstGeom prst="roundRect">
            <a:avLst>
              <a:gd name="adj" fmla="val 1052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6E4F7"/>
                </a:solidFill>
              </a:rPr>
              <a:t>03  PARETO ANALYSIS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0" y="73152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CLV Concentration — Pareto Analysis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938528" cy="2148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4241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Top 10%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27.6%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4F7"/>
                </a:solidFill>
              </a:rPr>
              <a:t>of total CLV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960120"/>
            <a:ext cx="1938528" cy="2148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04241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Top 20%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1417320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46.4%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468880" y="210312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ECACA"/>
                </a:solidFill>
              </a:rPr>
              <a:t>of total CLV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960120"/>
            <a:ext cx="1938528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04241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Top 30%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60.8%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572000" y="210312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4F7"/>
                </a:solidFill>
              </a:rPr>
              <a:t>of total CLV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75120" y="960120"/>
            <a:ext cx="1938528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104241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Top 50%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1417320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81.8%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675120" y="210312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4F7"/>
                </a:solidFill>
              </a:rPr>
              <a:t>of total CLV</a:t>
            </a:r>
            <a:endParaRPr lang="en-US" sz="95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274320" y="3246120"/>
          <a:ext cx="8595360" cy="1572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E2761"/>
                </a:solidFill>
              </a:rPr>
              <a:t>Retention budget must follow value concentration, not headcount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920240" cy="347472"/>
          </a:xfrm>
          <a:prstGeom prst="roundRect">
            <a:avLst>
              <a:gd name="adj" fmla="val 1052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6E4F7"/>
                </a:solidFill>
              </a:rPr>
              <a:t>04  DATA PREPARATION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377440" y="73152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Feature Engineering &amp; Feature Selection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896112"/>
            <a:ext cx="2761488" cy="2578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50976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Data Cleaning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2336" y="1335024"/>
            <a:ext cx="252374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3716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Missing Values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137160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None — CRM structured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2336" y="1828800"/>
            <a:ext cx="252374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186537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Duplicates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45920" y="18653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Zero rows detected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2336" y="2322576"/>
            <a:ext cx="252374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23591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Outliers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45920" y="235915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Retained — domain valid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2336" y="2816352"/>
            <a:ext cx="252374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28529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Label Encoding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285292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6 categorical columns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896112"/>
            <a:ext cx="566928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95097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3 Engineered Features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10128" y="1280160"/>
            <a:ext cx="1700784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10128" y="1280160"/>
            <a:ext cx="1700784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1371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premium_to_income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16276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Monthly premium ÷ income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Low ratio = upgrade candidate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138928" y="1280160"/>
            <a:ext cx="1700784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38928" y="1280160"/>
            <a:ext cx="1700784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1371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claim_ratio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12080" y="16276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Total claims ÷ annual premium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High = less profitable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967728" y="1280160"/>
            <a:ext cx="1700784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67728" y="1280160"/>
            <a:ext cx="1700784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1371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</a:rPr>
              <a:t>high_value_vehicle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40880" y="16276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Binary: Luxury/Sports vehicle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CLV 2.67× average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0" y="2468880"/>
            <a:ext cx="5669280" cy="2450592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2560320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Feature Selection — Why These 13 Features?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55848" y="290779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Number of Policies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687568" y="29077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+0.66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36208" y="2926080"/>
            <a:ext cx="694944" cy="18288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36208" y="292608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STRONG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355848" y="31729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Monthly Premium Auto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687568" y="31729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+0.62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36208" y="3191256"/>
            <a:ext cx="694944" cy="18288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36208" y="319125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STRONG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355848" y="34381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Total Claim Amount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687568" y="34381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+0.22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236208" y="3456432"/>
            <a:ext cx="694944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36208" y="345643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MODERATE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355848" y="37033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Income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687568" y="3703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+0.15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236208" y="3721608"/>
            <a:ext cx="694944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36208" y="3721608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MODERATE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3355848" y="396849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premium_to_income [ENG]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687568" y="39684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+0.18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236208" y="3986784"/>
            <a:ext cx="694944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36208" y="398678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MODERATE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3355848" y="423367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claim_ratio [ENG]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687568" y="4233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-0.08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236208" y="4251960"/>
            <a:ext cx="694944" cy="182880"/>
          </a:xfrm>
          <a:prstGeom prst="roundRect">
            <a:avLst>
              <a:gd name="adj" fmla="val 15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36208" y="425196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WEAK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355848" y="449884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high_value_vehicle [ENG]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687568" y="44988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</a:rPr>
              <a:t>+0.31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236208" y="4517136"/>
            <a:ext cx="694944" cy="18288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36208" y="451713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STRONG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3355848" y="4700016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i="1" dirty="0">
                <a:solidFill>
                  <a:srgbClr val="64748B"/>
                </a:solidFill>
              </a:rPr>
              <a:t>6 categorical features encoded via LabelEncoder — all carry direct business justification (Vehicle Class, Coverage, Renew Offer, Employment, Marital, Education)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828800" cy="347472"/>
          </a:xfrm>
          <a:prstGeom prst="roundRect">
            <a:avLst>
              <a:gd name="adj" fmla="val 1052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6E4F7"/>
                </a:solidFill>
              </a:rPr>
              <a:t>04  MODEL JOURNEY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0" y="73152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Selection Story — From RF to XGBoost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896112"/>
            <a:ext cx="1508760" cy="11155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" y="950976"/>
            <a:ext cx="1380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RF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Baseline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" y="1371600"/>
            <a:ext cx="1380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50" dirty="0">
                <a:solidFill>
                  <a:srgbClr val="D6E4F7"/>
                </a:solidFill>
              </a:rPr>
              <a:t>Gap=0.227</a:t>
            </a:r>
            <a:endParaRPr lang="en-US" sz="850" dirty="0"/>
          </a:p>
          <a:p>
            <a:pPr marL="0" indent="0" algn="ctr">
              <a:lnSpc>
                <a:spcPct val="128000"/>
              </a:lnSpc>
              <a:buNone/>
            </a:pPr>
            <a:r>
              <a:rPr lang="en-US" sz="850" dirty="0">
                <a:solidFill>
                  <a:srgbClr val="D6E4F7"/>
                </a:solidFill>
              </a:rPr>
              <a:t>Overfit 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46504" y="1362456"/>
            <a:ext cx="201168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92808" y="1298448"/>
            <a:ext cx="73152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896112"/>
            <a:ext cx="150876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3B82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29968" y="950976"/>
            <a:ext cx="1380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</a:rPr>
              <a:t>RF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</a:rPr>
              <a:t>Re-Tuned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29968" y="1371600"/>
            <a:ext cx="1380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Gap=0.132</a:t>
            </a:r>
            <a:endParaRPr lang="en-US" sz="850" dirty="0"/>
          </a:p>
          <a:p>
            <a:pPr marL="0" indent="0" algn="ctr">
              <a:lnSpc>
                <a:spcPct val="128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Better 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83864" y="1362456"/>
            <a:ext cx="201168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30168" y="1298448"/>
            <a:ext cx="73152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3320" y="896112"/>
            <a:ext cx="150876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3B82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67328" y="950976"/>
            <a:ext cx="1380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</a:rPr>
              <a:t>XGBoost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</a:rPr>
              <a:t>Tuned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67328" y="1371600"/>
            <a:ext cx="1380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Gap=0.029</a:t>
            </a:r>
            <a:endParaRPr lang="en-US" sz="850" dirty="0"/>
          </a:p>
          <a:p>
            <a:pPr marL="0" indent="0" algn="ctr">
              <a:lnSpc>
                <a:spcPct val="128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No Overfit 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221224" y="1362456"/>
            <a:ext cx="201168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67528" y="1298448"/>
            <a:ext cx="73152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40680" y="896112"/>
            <a:ext cx="150876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3B82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04688" y="950976"/>
            <a:ext cx="1380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</a:rPr>
              <a:t>LightGBM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</a:rPr>
              <a:t>Tuned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04688" y="1371600"/>
            <a:ext cx="1380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Gap=0.045</a:t>
            </a:r>
            <a:endParaRPr lang="en-US" sz="850" dirty="0"/>
          </a:p>
          <a:p>
            <a:pPr marL="0" indent="0" algn="ctr">
              <a:lnSpc>
                <a:spcPct val="128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Acceptable 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958584" y="1362456"/>
            <a:ext cx="201168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04888" y="1298448"/>
            <a:ext cx="73152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78040" y="896112"/>
            <a:ext cx="1508760" cy="11155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42048" y="950976"/>
            <a:ext cx="1380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XGBoost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FINAL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42048" y="1371600"/>
            <a:ext cx="1380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50" dirty="0">
                <a:solidFill>
                  <a:srgbClr val="D6E4F7"/>
                </a:solidFill>
              </a:rPr>
              <a:t>Test R²=0.681</a:t>
            </a:r>
            <a:endParaRPr lang="en-US" sz="850" dirty="0"/>
          </a:p>
          <a:p>
            <a:pPr marL="0" indent="0" algn="ctr">
              <a:lnSpc>
                <a:spcPct val="128000"/>
              </a:lnSpc>
              <a:buNone/>
            </a:pPr>
            <a:r>
              <a:rPr lang="en-US" sz="850" dirty="0">
                <a:solidFill>
                  <a:srgbClr val="D6E4F7"/>
                </a:solidFill>
              </a:rPr>
              <a:t>Production 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4320" y="21762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Why Moved from Random Forest → XGBoost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" y="2523744"/>
            <a:ext cx="411480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523744"/>
            <a:ext cx="73152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26151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Step 1 — RF Baseline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8912" y="29077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Random Forest was chosen first: handles non-linear CLV interactions, robust to outliers, produces feature importance. Initial test R²=0.661.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2523744"/>
            <a:ext cx="411480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2523744"/>
            <a:ext cx="73152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73752" y="26151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Step 2 — RF is Overfit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73752" y="29077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Gap R²=0.227 detected. Re-tuning (max_depth 4–12, min_samples_leaf 4–20) reduced gap to 0.132 but still above 0.10 threshold.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3712464"/>
            <a:ext cx="411480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3712464"/>
            <a:ext cx="73152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38039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Step 3 — Try Boosting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38912" y="409651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XGBoost &amp; LightGBM use sequential tree building — each tree corrects the previous one's errors. Better regularization (L1/L2 + learning rate).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9160" y="3712464"/>
            <a:ext cx="411480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9160" y="3712464"/>
            <a:ext cx="73152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73752" y="38039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Step 4 — XGBoost Wins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73752" y="409651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XGBoost: Gap=0.029 (no overfit), Test R²=0.681, Composite=0.797. Best trade-off between accuracy and generalizability. FINAL MODEL.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645920" cy="347472"/>
          </a:xfrm>
          <a:prstGeom prst="roundRect">
            <a:avLst>
              <a:gd name="adj" fmla="val 1052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6E4F7"/>
                </a:solidFill>
              </a:rPr>
              <a:t>04  MODELING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103120" y="73152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Comparison &amp; Hyperparameter Tuning</a:t>
            </a:r>
            <a:endParaRPr lang="en-US" sz="2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914400"/>
          <a:ext cx="50292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914400"/>
            <a:ext cx="3291840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87568" y="100584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RandomizedSearchCV Re-Tuning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87568" y="1316736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60 random combinations with 5-Fold CV. Focused on regularization to reduce overfitting (gap R²=0.227).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939037"/>
              </p:ext>
            </p:extLst>
          </p:nvPr>
        </p:nvGraphicFramePr>
        <p:xfrm>
          <a:off x="5687568" y="1929384"/>
          <a:ext cx="3072384" cy="114300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Range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max_depth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4–12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↓ Reduce overfit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min_samples_leaf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4–20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↑ Regularize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max_features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sqrt/0.4/0.5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Randomize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min_samples_split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8–20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↑ Regularize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687568" y="3181409"/>
            <a:ext cx="3072384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760720" y="3222029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3B82F6"/>
                </a:solidFill>
              </a:rPr>
              <a:t>Result: Gap R² reduced from 0.227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687568" y="3703320"/>
            <a:ext cx="307238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760720" y="3736203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</a:rPr>
              <a:t>Linear R²=0.17 — </a:t>
            </a:r>
            <a:r>
              <a:rPr lang="en-US" sz="850" dirty="0">
                <a:solidFill>
                  <a:srgbClr val="64748B"/>
                </a:solidFill>
              </a:rPr>
              <a:t>Fails: non-linear CLV patterns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687568" y="4069080"/>
            <a:ext cx="307238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760720" y="4101963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</a:rPr>
              <a:t>Gradient Boosting — </a:t>
            </a:r>
            <a:r>
              <a:rPr lang="en-US" sz="850" dirty="0">
                <a:solidFill>
                  <a:srgbClr val="64748B"/>
                </a:solidFill>
              </a:rPr>
              <a:t>Strong baseline but less tunable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687568" y="4416552"/>
            <a:ext cx="307238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751576" y="443941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</a:rPr>
              <a:t>Random Forest  — </a:t>
            </a:r>
            <a:r>
              <a:rPr lang="en-US" sz="850" dirty="0">
                <a:solidFill>
                  <a:srgbClr val="64748B"/>
                </a:solidFill>
              </a:rPr>
              <a:t>Best R² + robust to outliers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737360" cy="347472"/>
          </a:xfrm>
          <a:prstGeom prst="roundRect">
            <a:avLst>
              <a:gd name="adj" fmla="val 1052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6E4F7"/>
                </a:solidFill>
              </a:rPr>
              <a:t>04  EVALUATION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194560" y="73152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Evaluation Metrics — Business Language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41148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078992"/>
            <a:ext cx="1024128" cy="25603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7899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PRIMARY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81328" y="1078992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R² Score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1444752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0.661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84048" y="1975104"/>
            <a:ext cx="3895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Model explains 66.1% of CLV variation across customers. Remaining 33.9% likely from missing tenure/NPS data.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91440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914400"/>
            <a:ext cx="411480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18888" y="1078992"/>
            <a:ext cx="1024128" cy="256032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107899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BUSINESS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16168" y="1078992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MAPE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18888" y="1444752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766E"/>
                </a:solidFill>
              </a:rPr>
              <a:t>12.1%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818888" y="1975104"/>
            <a:ext cx="3895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On avg model predicts within 12.1% of true CLV. For an $8,000 customer, avg error ≈ $968.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907792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07792"/>
            <a:ext cx="41148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3072384"/>
            <a:ext cx="1024128" cy="256032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07238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OPERATIONAL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481328" y="3072384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MAE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4048" y="3438144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</a:rPr>
              <a:t>$1,547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384048" y="3968496"/>
            <a:ext cx="3895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Mean absolute error per customer — ~2 months of avg premium. Acceptable for tier segmentation.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2907792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907792"/>
            <a:ext cx="41148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18888" y="3072384"/>
            <a:ext cx="1024128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307238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RISK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16168" y="3072384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RMSE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18888" y="3438144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7706"/>
                </a:solidFill>
              </a:rPr>
              <a:t>$3,876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4818888" y="3968496"/>
            <a:ext cx="3895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RMSE &gt;&gt; MAE reveals model under-predicts ultra-high CLV (&gt;$30K). Validate manually for VIP segment.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Why not Accuracy? A model always predicting $8,030 (mean) would score misleadingly well — regression metrics measure real prediction quality.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828800" cy="347472"/>
          </a:xfrm>
          <a:prstGeom prst="roundRect">
            <a:avLst>
              <a:gd name="adj" fmla="val 1052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6E4F7"/>
                </a:solidFill>
              </a:rPr>
              <a:t>04  MODEL VALIDATION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0" y="73152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Overfitting Check — Train vs Test Score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896112"/>
            <a:ext cx="8595360" cy="512064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914400"/>
            <a:ext cx="8302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</a:rPr>
              <a:t>Overfitting occurs when the model memorizes the training data and fails to generalize to new data. Comparing train vs test score is the primary way to detect it.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591631"/>
              </p:ext>
            </p:extLst>
          </p:nvPr>
        </p:nvGraphicFramePr>
        <p:xfrm>
          <a:off x="274320" y="1481328"/>
          <a:ext cx="8595360" cy="10972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Train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R²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0.888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0.661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+0.227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</a:rPr>
                        <a:t>Overfit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MAPE (%)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8.2%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12.1%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+3.9pp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Acceptable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MAE ($)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$872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$1,547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+$675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Acceptable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74320" y="2779776"/>
            <a:ext cx="859536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0624" y="2852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Verdict &amp; Interpretation</a:t>
            </a:r>
            <a:endParaRPr lang="en-US" sz="1200" dirty="0"/>
          </a:p>
        </p:txBody>
      </p:sp>
      <p:sp>
        <p:nvSpPr>
          <p:cNvPr id="10" name="Shape 10"/>
          <p:cNvSpPr/>
          <p:nvPr/>
        </p:nvSpPr>
        <p:spPr>
          <a:xfrm>
            <a:off x="420624" y="3236976"/>
            <a:ext cx="146304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320040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R² gap = +0.227 (&gt; 0.10 threshold)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944368" y="3200400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Model is overfitting — train R² 0.888 vs test R² 0.661. A gap of 0.227 indicates the model has memorized training patterns.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20624" y="3621024"/>
            <a:ext cx="146304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358444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Root cause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944368" y="3584448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Random Forest with max_depth=20 and many trees tends to overfit on smaller datasets. Regularization needed: reduce max_depth, increase min_samples_leaf.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20624" y="4005072"/>
            <a:ext cx="146304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396849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Mitigation &amp; action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944368" y="3968496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Despite overfitting, test R²=0.661 still meets the business target (≥0.60). For production: re-tune with max_depth ≤ 10 and min_samples_leaf ≥ 4.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274320" y="44622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D97706"/>
                </a:solidFill>
              </a:rPr>
              <a:t>Conclusion: Model is OVERFIT (gap R² = 0.227). Test R²=0.661 still meets business target, but re-tuning max_depth ≤ 10 is recommended before production deployment.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6E4F7"/>
                </a:solidFill>
              </a:rPr>
              <a:t>04  RE-TUNING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874520" y="73152"/>
            <a:ext cx="6995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Re-Tuning Results — Resolving Overfitting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896112"/>
            <a:ext cx="8595360" cy="402336"/>
          </a:xfrm>
          <a:prstGeom prst="rect">
            <a:avLst/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914400"/>
            <a:ext cx="8302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</a:rPr>
              <a:t>Problem: </a:t>
            </a:r>
            <a:r>
              <a:rPr lang="en-US" sz="950" dirty="0">
                <a:solidFill>
                  <a:srgbClr val="1E293B"/>
                </a:solidFill>
              </a:rPr>
              <a:t>Gap R² = 0.227 (train=0.888 vs test=0.661). Fix: reduce max_depth (4–12), increase min_samples_leaf (4–20), RandomizedSearchCV 60 iterations.</a:t>
            </a:r>
            <a:endParaRPr lang="en-US" sz="9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070992"/>
              </p:ext>
            </p:extLst>
          </p:nvPr>
        </p:nvGraphicFramePr>
        <p:xfrm>
          <a:off x="274320" y="1371600"/>
          <a:ext cx="8595360" cy="98755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Old — Train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Old — Test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Re-Tuned — Train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Re-Tuned — Test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R²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0.888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0.661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0.834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0.702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Gap reduced 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MAPE (%)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8.2%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12.1%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8.56%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12.61%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Stable 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Gap R²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0.227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0.132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Improved 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74320" y="2542032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542032"/>
            <a:ext cx="73152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" y="261518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Gap R² reduced from 0.227 → 0.132</a:t>
            </a:r>
            <a:endParaRPr lang="en-US" sz="1100" dirty="0"/>
          </a:p>
        </p:txBody>
      </p:sp>
      <p:sp>
        <p:nvSpPr>
          <p:cNvPr id="10" name="Text 11"/>
          <p:cNvSpPr/>
          <p:nvPr/>
        </p:nvSpPr>
        <p:spPr>
          <a:xfrm>
            <a:off x="438912" y="288950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Regularization successful — a 0.095-point reduction. The model no longer memorizes training data as heavily, showing significantly better generalization.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4320" y="3456432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3456432"/>
            <a:ext cx="73152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8912" y="352958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Test R² improved from 0.661 → 0.702 — business target exceeded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38912" y="380390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Re-tuned model not only meets but exceeds the R² ≥ 0.60 threshold. Predictive capability for new customers is stronger than the original model.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74320" y="4370832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320" y="4370832"/>
            <a:ext cx="73152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8912" y="444398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Production recommendation — try XGBoost / LightGBM next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38912" y="471830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Gap R²=0.132 is still &gt; 0.10. Next step: compare with XGBoost &amp; LightGBM (boosting algorithms) which typically generalize better on tabular data.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920240" cy="347472"/>
          </a:xfrm>
          <a:prstGeom prst="roundRect">
            <a:avLst>
              <a:gd name="adj" fmla="val 1052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6E4F7"/>
                </a:solidFill>
              </a:rPr>
              <a:t>04  MODEL COMPARISON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377440" y="73152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XGBoost &amp; LightGBM vs Random Forest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896112"/>
            <a:ext cx="859536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914400"/>
            <a:ext cx="8302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Why Boosting? </a:t>
            </a:r>
            <a:r>
              <a:rPr lang="en-US" sz="950" dirty="0">
                <a:solidFill>
                  <a:srgbClr val="1E293B"/>
                </a:solidFill>
              </a:rPr>
              <a:t>RF gap R²=0.132 still &gt; 0.10. XGBoost &amp; LightGBM build trees sequentially — each tree corrects the previous one's errors — typically producing better generalization on tabular data.</a:t>
            </a:r>
            <a:endParaRPr lang="en-US" sz="9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11811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RF Re-Tuned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XGBoost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LightGBM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Approach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Bagging (parallel)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Boosting (sequential)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Boosting (sequential)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Speed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Very fast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Key param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max_depth + leaf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learning_rate + depth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num_leaves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Overfit ctrl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Depth / min_leaf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L1/L2 + learning rate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num_leaves + min_child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274320" y="2487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Head-to-Head Results — Actual Values</a:t>
            </a:r>
            <a:endParaRPr lang="en-US" sz="115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081553"/>
              </p:ext>
            </p:extLst>
          </p:nvPr>
        </p:nvGraphicFramePr>
        <p:xfrm>
          <a:off x="274320" y="2788920"/>
          <a:ext cx="8595360" cy="18592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RF Re-Tuned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 err="1">
                          <a:solidFill>
                            <a:srgbClr val="FFFFFF"/>
                          </a:solidFill>
                        </a:rPr>
                        <a:t>XGBoost</a:t>
                      </a: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LightGBM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Winner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Train R²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0.8337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0.7103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0.7250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RF Re-Tuned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Test R²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0.7020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0.6807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0.6800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RF Re-Tuned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Gap R²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0.1317 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0.0296 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0.0450 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XGBoost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MAPE (%)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12.61%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14.93%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16.06%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RF Re-Tuned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MAE ($)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$1,617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$1,784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$1,830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RF Re-Tuned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Composite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(R²×0.6+gap×0.4)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0.769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0.797 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0.790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XGBoost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11"/>
          <p:cNvSpPr/>
          <p:nvPr/>
        </p:nvSpPr>
        <p:spPr>
          <a:xfrm>
            <a:off x="320040" y="46482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16A34A"/>
                </a:solidFill>
              </a:rPr>
              <a:t>XGBoost WINS: </a:t>
            </a:r>
            <a:r>
              <a:rPr lang="en-US" sz="600" dirty="0">
                <a:solidFill>
                  <a:srgbClr val="64748B"/>
                </a:solidFill>
              </a:rPr>
              <a:t>Gap R²=0.029 — practically no overfitting. Test R²=0.681 exceeds business target. Most reliable for predicting CLV on new customers in production.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320040" y="48006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D97706"/>
                </a:solidFill>
              </a:rPr>
              <a:t>RF Re-Tuned: highest Test R² but overfit: </a:t>
            </a:r>
            <a:r>
              <a:rPr lang="en-US" sz="600" dirty="0">
                <a:solidFill>
                  <a:srgbClr val="64748B"/>
                </a:solidFill>
              </a:rPr>
              <a:t>RF has the best raw Test R² (0.702) but gap=0.132 means it still memorizes training patterns. Less trustworthy on truly new data.</a:t>
            </a:r>
            <a:endParaRPr lang="en-US" sz="600" dirty="0"/>
          </a:p>
        </p:txBody>
      </p:sp>
      <p:sp>
        <p:nvSpPr>
          <p:cNvPr id="21" name="Text 17"/>
          <p:cNvSpPr/>
          <p:nvPr/>
        </p:nvSpPr>
        <p:spPr>
          <a:xfrm>
            <a:off x="320040" y="49286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1E2761"/>
                </a:solidFill>
              </a:rPr>
              <a:t>Composite score justification (60/40): </a:t>
            </a:r>
            <a:r>
              <a:rPr lang="en-US" sz="600" dirty="0">
                <a:solidFill>
                  <a:srgbClr val="64748B"/>
                </a:solidFill>
              </a:rPr>
              <a:t>Test R² weighted 60% = primary objective (business value). Gap weighted 40% = overfitting penalty (risk control). Primary objective &gt; constraint — standard multi-objective optimization principle.</a:t>
            </a:r>
            <a:endParaRPr lang="en-US" sz="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10">
            <a:extLst>
              <a:ext uri="{FF2B5EF4-FFF2-40B4-BE49-F238E27FC236}">
                <a16:creationId xmlns:a16="http://schemas.microsoft.com/office/drawing/2014/main" id="{8D6CDCC9-6EF1-7AB1-FFC5-A69ED71ED485}"/>
              </a:ext>
            </a:extLst>
          </p:cNvPr>
          <p:cNvSpPr/>
          <p:nvPr/>
        </p:nvSpPr>
        <p:spPr>
          <a:xfrm>
            <a:off x="1084618" y="1880237"/>
            <a:ext cx="4313857" cy="1417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Shape 10">
            <a:extLst>
              <a:ext uri="{FF2B5EF4-FFF2-40B4-BE49-F238E27FC236}">
                <a16:creationId xmlns:a16="http://schemas.microsoft.com/office/drawing/2014/main" id="{0CBD42D4-0D43-DFC8-4ADE-88E0C9A90518}"/>
              </a:ext>
            </a:extLst>
          </p:cNvPr>
          <p:cNvSpPr/>
          <p:nvPr/>
        </p:nvSpPr>
        <p:spPr>
          <a:xfrm>
            <a:off x="1088136" y="1622621"/>
            <a:ext cx="4313857" cy="1417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Shape 10">
            <a:extLst>
              <a:ext uri="{FF2B5EF4-FFF2-40B4-BE49-F238E27FC236}">
                <a16:creationId xmlns:a16="http://schemas.microsoft.com/office/drawing/2014/main" id="{0F3B98A2-FA93-B196-D883-FC0C84CC198A}"/>
              </a:ext>
            </a:extLst>
          </p:cNvPr>
          <p:cNvSpPr/>
          <p:nvPr/>
        </p:nvSpPr>
        <p:spPr>
          <a:xfrm>
            <a:off x="1116974" y="1115568"/>
            <a:ext cx="4285019" cy="1417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2103120" cy="347472"/>
          </a:xfrm>
          <a:prstGeom prst="roundRect">
            <a:avLst>
              <a:gd name="adj" fmla="val 1052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6E4F7"/>
                </a:solidFill>
              </a:rPr>
              <a:t>04  FEATURE IMPORTANCE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560320" y="73152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Drives CLV? — Feature Importance (XGBoost)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Ranked by importance score — how much each feature reduces prediction error across all trees.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-685800" y="1056483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93B"/>
                </a:solidFill>
              </a:rPr>
              <a:t>Num. Policies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88135" y="1124712"/>
            <a:ext cx="4313857" cy="128719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4336" y="109270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47%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-689317" y="1304075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93B"/>
                </a:solidFill>
              </a:rPr>
              <a:t>Monthly Premium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84619" y="1393757"/>
            <a:ext cx="4313857" cy="124147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-689317" y="1572683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Coverage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-705644" y="182607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Vehicle Class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-689317" y="2092045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</a:rPr>
              <a:t>premium_to_income [ENG}]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-705644" y="232714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Total Claim Amount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-694688" y="257016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claim_ratio [ENG]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-689317" y="281951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Income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-685800" y="308645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high_value_veh [ENG]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-705644" y="3335183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Renew Offer Type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-705644" y="358391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EmploymentStatus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-705644" y="382438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Marital Status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-705644" y="4067676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Education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774787" y="1039694"/>
            <a:ext cx="274320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780370" y="1050855"/>
            <a:ext cx="27432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833872" y="1129636"/>
            <a:ext cx="310896" cy="3108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833872" y="11211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#1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231988" y="11018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</a:rPr>
              <a:t>47%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6872068" y="1153201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Num. Policies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868486" y="1534920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Cross-sell 1→2 policies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highest-ROI action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780370" y="2054678"/>
            <a:ext cx="274320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5780370" y="2060565"/>
            <a:ext cx="27432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812726" y="2153768"/>
            <a:ext cx="310896" cy="3108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12726" y="214022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#2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231988" y="21168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</a:rPr>
              <a:t>27%</a:t>
            </a:r>
            <a:endParaRPr lang="en-US" sz="2200" dirty="0"/>
          </a:p>
        </p:txBody>
      </p:sp>
      <p:sp>
        <p:nvSpPr>
          <p:cNvPr id="71" name="Text 69"/>
          <p:cNvSpPr/>
          <p:nvPr/>
        </p:nvSpPr>
        <p:spPr>
          <a:xfrm>
            <a:off x="6872068" y="218770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Monthly Premium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5854929" y="2565861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Push coverage upgrades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every $1 premium = CLV lift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5774787" y="3077925"/>
            <a:ext cx="274320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5780370" y="3090672"/>
            <a:ext cx="27432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812726" y="3179212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12726" y="31721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#3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228319" y="3128129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</a:rPr>
              <a:t>7%</a:t>
            </a:r>
            <a:endParaRPr lang="en-US" sz="2200" dirty="0"/>
          </a:p>
        </p:txBody>
      </p:sp>
      <p:sp>
        <p:nvSpPr>
          <p:cNvPr id="78" name="Text 76"/>
          <p:cNvSpPr/>
          <p:nvPr/>
        </p:nvSpPr>
        <p:spPr>
          <a:xfrm>
            <a:off x="6775704" y="3176571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Coverage Type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5837344" y="3568931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Premium &gt; Extended &gt; Basic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segment by coverage tier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5774787" y="4073386"/>
            <a:ext cx="274320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0F766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5774787" y="4067676"/>
            <a:ext cx="274320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812726" y="4195357"/>
            <a:ext cx="310896" cy="3108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12726" y="4187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#4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6221240" y="4151161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</a:rPr>
              <a:t>5.6%</a:t>
            </a:r>
            <a:endParaRPr lang="en-US" sz="2200" dirty="0"/>
          </a:p>
        </p:txBody>
      </p:sp>
      <p:sp>
        <p:nvSpPr>
          <p:cNvPr id="85" name="Text 83"/>
          <p:cNvSpPr/>
          <p:nvPr/>
        </p:nvSpPr>
        <p:spPr>
          <a:xfrm>
            <a:off x="6879760" y="4222789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premium_to_income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5839454" y="459943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Engineered feature pays off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low ratio = upgrade target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61366" y="4383668"/>
            <a:ext cx="5331991" cy="24574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-1242925" y="4370832"/>
            <a:ext cx="7735165" cy="251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Top 2 features = 74% of model predictions  ·  Engineered features (teal) add 13%  ·  Focus: cross-sell + premium upgrade</a:t>
            </a:r>
            <a:endParaRPr lang="en-US" sz="800" dirty="0"/>
          </a:p>
        </p:txBody>
      </p:sp>
      <p:sp>
        <p:nvSpPr>
          <p:cNvPr id="90" name="Shape 7">
            <a:extLst>
              <a:ext uri="{FF2B5EF4-FFF2-40B4-BE49-F238E27FC236}">
                <a16:creationId xmlns:a16="http://schemas.microsoft.com/office/drawing/2014/main" id="{8737CCC3-10A4-0F24-8A9B-BCEF4AF3F55F}"/>
              </a:ext>
            </a:extLst>
          </p:cNvPr>
          <p:cNvSpPr/>
          <p:nvPr/>
        </p:nvSpPr>
        <p:spPr>
          <a:xfrm>
            <a:off x="1088136" y="1384612"/>
            <a:ext cx="2506159" cy="137863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91959" y="1349443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27%</a:t>
            </a:r>
            <a:endParaRPr lang="en-US" sz="1000" dirty="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09FF4A41-1278-0911-86B4-CD4C8A2CC2D6}"/>
              </a:ext>
            </a:extLst>
          </p:cNvPr>
          <p:cNvSpPr/>
          <p:nvPr/>
        </p:nvSpPr>
        <p:spPr>
          <a:xfrm>
            <a:off x="1092843" y="1626842"/>
            <a:ext cx="792228" cy="13751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9430" y="1589825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7%</a:t>
            </a:r>
            <a:endParaRPr lang="en-US" sz="800" dirty="0"/>
          </a:p>
        </p:txBody>
      </p:sp>
      <p:sp>
        <p:nvSpPr>
          <p:cNvPr id="94" name="Shape 7">
            <a:extLst>
              <a:ext uri="{FF2B5EF4-FFF2-40B4-BE49-F238E27FC236}">
                <a16:creationId xmlns:a16="http://schemas.microsoft.com/office/drawing/2014/main" id="{3ADF6C96-5A7B-B562-9DA1-BD83D62DF476}"/>
              </a:ext>
            </a:extLst>
          </p:cNvPr>
          <p:cNvSpPr/>
          <p:nvPr/>
        </p:nvSpPr>
        <p:spPr>
          <a:xfrm>
            <a:off x="1091653" y="1887041"/>
            <a:ext cx="413590" cy="143405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7291" y="1848143"/>
            <a:ext cx="44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chemeClr val="bg1"/>
                </a:solidFill>
              </a:rPr>
              <a:t>5.5%</a:t>
            </a:r>
          </a:p>
        </p:txBody>
      </p:sp>
      <p:sp>
        <p:nvSpPr>
          <p:cNvPr id="96" name="Shape 10">
            <a:extLst>
              <a:ext uri="{FF2B5EF4-FFF2-40B4-BE49-F238E27FC236}">
                <a16:creationId xmlns:a16="http://schemas.microsoft.com/office/drawing/2014/main" id="{F4D9EBF2-28AC-F985-1EFB-AC06E45D9875}"/>
              </a:ext>
            </a:extLst>
          </p:cNvPr>
          <p:cNvSpPr/>
          <p:nvPr/>
        </p:nvSpPr>
        <p:spPr>
          <a:xfrm>
            <a:off x="1081910" y="2145233"/>
            <a:ext cx="4313857" cy="1417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Shape 7">
            <a:extLst>
              <a:ext uri="{FF2B5EF4-FFF2-40B4-BE49-F238E27FC236}">
                <a16:creationId xmlns:a16="http://schemas.microsoft.com/office/drawing/2014/main" id="{2109FA1E-B363-1DA8-5AEC-537048A855E1}"/>
              </a:ext>
            </a:extLst>
          </p:cNvPr>
          <p:cNvSpPr/>
          <p:nvPr/>
        </p:nvSpPr>
        <p:spPr>
          <a:xfrm>
            <a:off x="1081910" y="2149716"/>
            <a:ext cx="502112" cy="137249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67618" y="2119477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</a:rPr>
              <a:t>5.6%</a:t>
            </a:r>
            <a:endParaRPr lang="en-US" sz="800" dirty="0"/>
          </a:p>
        </p:txBody>
      </p:sp>
      <p:sp>
        <p:nvSpPr>
          <p:cNvPr id="99" name="Shape 10">
            <a:extLst>
              <a:ext uri="{FF2B5EF4-FFF2-40B4-BE49-F238E27FC236}">
                <a16:creationId xmlns:a16="http://schemas.microsoft.com/office/drawing/2014/main" id="{FCF26097-A7F8-547A-1ED0-773A65F337B5}"/>
              </a:ext>
            </a:extLst>
          </p:cNvPr>
          <p:cNvSpPr/>
          <p:nvPr/>
        </p:nvSpPr>
        <p:spPr>
          <a:xfrm>
            <a:off x="1079500" y="2382719"/>
            <a:ext cx="4313857" cy="1417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95C72994-D07F-D401-E766-A62EAD6E6406}"/>
              </a:ext>
            </a:extLst>
          </p:cNvPr>
          <p:cNvSpPr/>
          <p:nvPr/>
        </p:nvSpPr>
        <p:spPr>
          <a:xfrm>
            <a:off x="1084619" y="2379503"/>
            <a:ext cx="322150" cy="14173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4433" y="235203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chemeClr val="bg1"/>
                </a:solidFill>
              </a:rPr>
              <a:t>4.8%</a:t>
            </a:r>
          </a:p>
        </p:txBody>
      </p:sp>
      <p:sp>
        <p:nvSpPr>
          <p:cNvPr id="100" name="Shape 10">
            <a:extLst>
              <a:ext uri="{FF2B5EF4-FFF2-40B4-BE49-F238E27FC236}">
                <a16:creationId xmlns:a16="http://schemas.microsoft.com/office/drawing/2014/main" id="{B2639352-FFDB-97A5-29F6-C0F74357D30D}"/>
              </a:ext>
            </a:extLst>
          </p:cNvPr>
          <p:cNvSpPr/>
          <p:nvPr/>
        </p:nvSpPr>
        <p:spPr>
          <a:xfrm>
            <a:off x="1091286" y="2619756"/>
            <a:ext cx="4313857" cy="1417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Shape 7">
            <a:extLst>
              <a:ext uri="{FF2B5EF4-FFF2-40B4-BE49-F238E27FC236}">
                <a16:creationId xmlns:a16="http://schemas.microsoft.com/office/drawing/2014/main" id="{BAF14DF3-4E1C-79FD-CDD9-93A54ABD2BF9}"/>
              </a:ext>
            </a:extLst>
          </p:cNvPr>
          <p:cNvSpPr/>
          <p:nvPr/>
        </p:nvSpPr>
        <p:spPr>
          <a:xfrm>
            <a:off x="1086026" y="2618259"/>
            <a:ext cx="264472" cy="137249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8162" y="258318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chemeClr val="bg1"/>
                </a:solidFill>
              </a:rPr>
              <a:t>4.4%</a:t>
            </a:r>
          </a:p>
        </p:txBody>
      </p:sp>
      <p:sp>
        <p:nvSpPr>
          <p:cNvPr id="103" name="Shape 10">
            <a:extLst>
              <a:ext uri="{FF2B5EF4-FFF2-40B4-BE49-F238E27FC236}">
                <a16:creationId xmlns:a16="http://schemas.microsoft.com/office/drawing/2014/main" id="{5EE3B10E-ED7C-D8F0-41A6-D6812F13B772}"/>
              </a:ext>
            </a:extLst>
          </p:cNvPr>
          <p:cNvSpPr/>
          <p:nvPr/>
        </p:nvSpPr>
        <p:spPr>
          <a:xfrm>
            <a:off x="1081910" y="2870337"/>
            <a:ext cx="4313857" cy="1417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2" name="Shape 7">
            <a:extLst>
              <a:ext uri="{FF2B5EF4-FFF2-40B4-BE49-F238E27FC236}">
                <a16:creationId xmlns:a16="http://schemas.microsoft.com/office/drawing/2014/main" id="{18A9178C-7E90-003D-E7BA-21FDF71876F5}"/>
              </a:ext>
            </a:extLst>
          </p:cNvPr>
          <p:cNvSpPr/>
          <p:nvPr/>
        </p:nvSpPr>
        <p:spPr>
          <a:xfrm>
            <a:off x="1081910" y="2878200"/>
            <a:ext cx="212318" cy="12871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49330" y="283428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/>
              <a:t>3.5%</a:t>
            </a:r>
          </a:p>
        </p:txBody>
      </p:sp>
      <p:sp>
        <p:nvSpPr>
          <p:cNvPr id="104" name="Shape 10">
            <a:extLst>
              <a:ext uri="{FF2B5EF4-FFF2-40B4-BE49-F238E27FC236}">
                <a16:creationId xmlns:a16="http://schemas.microsoft.com/office/drawing/2014/main" id="{6AA5019C-42E2-091D-36B0-B7E284D82204}"/>
              </a:ext>
            </a:extLst>
          </p:cNvPr>
          <p:cNvSpPr/>
          <p:nvPr/>
        </p:nvSpPr>
        <p:spPr>
          <a:xfrm>
            <a:off x="1079500" y="3145536"/>
            <a:ext cx="4313857" cy="1417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Shape 7">
            <a:extLst>
              <a:ext uri="{FF2B5EF4-FFF2-40B4-BE49-F238E27FC236}">
                <a16:creationId xmlns:a16="http://schemas.microsoft.com/office/drawing/2014/main" id="{48C22D30-CF3E-EBC2-2E61-782C5E81B48C}"/>
              </a:ext>
            </a:extLst>
          </p:cNvPr>
          <p:cNvSpPr/>
          <p:nvPr/>
        </p:nvSpPr>
        <p:spPr>
          <a:xfrm>
            <a:off x="1084618" y="3143602"/>
            <a:ext cx="167773" cy="1417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42" name="Text 40"/>
          <p:cNvSpPr/>
          <p:nvPr/>
        </p:nvSpPr>
        <p:spPr>
          <a:xfrm>
            <a:off x="1102907" y="3108169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E293B"/>
                </a:solidFill>
              </a:rPr>
              <a:t>3.1%</a:t>
            </a:r>
            <a:endParaRPr lang="en-US" sz="800" dirty="0"/>
          </a:p>
        </p:txBody>
      </p:sp>
      <p:sp>
        <p:nvSpPr>
          <p:cNvPr id="106" name="Shape 10">
            <a:extLst>
              <a:ext uri="{FF2B5EF4-FFF2-40B4-BE49-F238E27FC236}">
                <a16:creationId xmlns:a16="http://schemas.microsoft.com/office/drawing/2014/main" id="{2C8C2AAF-871D-A375-5A55-F44BA6A0E635}"/>
              </a:ext>
            </a:extLst>
          </p:cNvPr>
          <p:cNvSpPr/>
          <p:nvPr/>
        </p:nvSpPr>
        <p:spPr>
          <a:xfrm>
            <a:off x="1088255" y="3381391"/>
            <a:ext cx="4313857" cy="1417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Shape 7">
            <a:extLst>
              <a:ext uri="{FF2B5EF4-FFF2-40B4-BE49-F238E27FC236}">
                <a16:creationId xmlns:a16="http://schemas.microsoft.com/office/drawing/2014/main" id="{24253DE3-8E94-43F3-95DA-095E53FC4FB2}"/>
              </a:ext>
            </a:extLst>
          </p:cNvPr>
          <p:cNvSpPr/>
          <p:nvPr/>
        </p:nvSpPr>
        <p:spPr>
          <a:xfrm>
            <a:off x="1085126" y="3386271"/>
            <a:ext cx="99776" cy="137598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46" name="Text 44"/>
          <p:cNvSpPr/>
          <p:nvPr/>
        </p:nvSpPr>
        <p:spPr>
          <a:xfrm>
            <a:off x="1011467" y="3352545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E293B"/>
                </a:solidFill>
              </a:rPr>
              <a:t>2.2%</a:t>
            </a:r>
            <a:endParaRPr lang="en-US" sz="800" dirty="0"/>
          </a:p>
        </p:txBody>
      </p:sp>
      <p:sp>
        <p:nvSpPr>
          <p:cNvPr id="108" name="Shape 10">
            <a:extLst>
              <a:ext uri="{FF2B5EF4-FFF2-40B4-BE49-F238E27FC236}">
                <a16:creationId xmlns:a16="http://schemas.microsoft.com/office/drawing/2014/main" id="{8E696826-6D5A-3B93-98BE-82D4F14A808D}"/>
              </a:ext>
            </a:extLst>
          </p:cNvPr>
          <p:cNvSpPr/>
          <p:nvPr/>
        </p:nvSpPr>
        <p:spPr>
          <a:xfrm>
            <a:off x="1085809" y="3645554"/>
            <a:ext cx="4313857" cy="1417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" name="Shape 7">
            <a:extLst>
              <a:ext uri="{FF2B5EF4-FFF2-40B4-BE49-F238E27FC236}">
                <a16:creationId xmlns:a16="http://schemas.microsoft.com/office/drawing/2014/main" id="{8296FC51-040D-9E73-DE0D-13D24128C369}"/>
              </a:ext>
            </a:extLst>
          </p:cNvPr>
          <p:cNvSpPr/>
          <p:nvPr/>
        </p:nvSpPr>
        <p:spPr>
          <a:xfrm>
            <a:off x="1082328" y="3644011"/>
            <a:ext cx="67002" cy="137598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50" name="Text 48"/>
          <p:cNvSpPr/>
          <p:nvPr/>
        </p:nvSpPr>
        <p:spPr>
          <a:xfrm>
            <a:off x="983734" y="360344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E293B"/>
                </a:solidFill>
              </a:rPr>
              <a:t>1.9%</a:t>
            </a:r>
            <a:endParaRPr lang="en-US" sz="800" dirty="0"/>
          </a:p>
        </p:txBody>
      </p:sp>
      <p:sp>
        <p:nvSpPr>
          <p:cNvPr id="110" name="Shape 10">
            <a:extLst>
              <a:ext uri="{FF2B5EF4-FFF2-40B4-BE49-F238E27FC236}">
                <a16:creationId xmlns:a16="http://schemas.microsoft.com/office/drawing/2014/main" id="{8D562346-F88A-078C-B0B7-EB0DC65AF16E}"/>
              </a:ext>
            </a:extLst>
          </p:cNvPr>
          <p:cNvSpPr/>
          <p:nvPr/>
        </p:nvSpPr>
        <p:spPr>
          <a:xfrm>
            <a:off x="1082328" y="3883210"/>
            <a:ext cx="4313857" cy="1417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1" name="Shape 7">
            <a:extLst>
              <a:ext uri="{FF2B5EF4-FFF2-40B4-BE49-F238E27FC236}">
                <a16:creationId xmlns:a16="http://schemas.microsoft.com/office/drawing/2014/main" id="{4902FAD8-D46D-CB44-88F7-04E50CFFCD60}"/>
              </a:ext>
            </a:extLst>
          </p:cNvPr>
          <p:cNvSpPr/>
          <p:nvPr/>
        </p:nvSpPr>
        <p:spPr>
          <a:xfrm>
            <a:off x="1086176" y="3880706"/>
            <a:ext cx="45719" cy="1362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54" name="Text 52"/>
          <p:cNvSpPr/>
          <p:nvPr/>
        </p:nvSpPr>
        <p:spPr>
          <a:xfrm>
            <a:off x="983734" y="385736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E293B"/>
                </a:solidFill>
              </a:rPr>
              <a:t>1.8%</a:t>
            </a:r>
            <a:endParaRPr lang="en-US" sz="800" dirty="0"/>
          </a:p>
        </p:txBody>
      </p:sp>
      <p:sp>
        <p:nvSpPr>
          <p:cNvPr id="112" name="Shape 10">
            <a:extLst>
              <a:ext uri="{FF2B5EF4-FFF2-40B4-BE49-F238E27FC236}">
                <a16:creationId xmlns:a16="http://schemas.microsoft.com/office/drawing/2014/main" id="{58FB12C4-6B8B-0337-3A70-A52D7C73B0EA}"/>
              </a:ext>
            </a:extLst>
          </p:cNvPr>
          <p:cNvSpPr/>
          <p:nvPr/>
        </p:nvSpPr>
        <p:spPr>
          <a:xfrm>
            <a:off x="1079500" y="4125857"/>
            <a:ext cx="4313857" cy="1417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Shape 7">
            <a:extLst>
              <a:ext uri="{FF2B5EF4-FFF2-40B4-BE49-F238E27FC236}">
                <a16:creationId xmlns:a16="http://schemas.microsoft.com/office/drawing/2014/main" id="{2A9A49CE-0E77-9C54-4DAD-139F8F6C3CA3}"/>
              </a:ext>
            </a:extLst>
          </p:cNvPr>
          <p:cNvSpPr/>
          <p:nvPr/>
        </p:nvSpPr>
        <p:spPr>
          <a:xfrm>
            <a:off x="1079500" y="4125857"/>
            <a:ext cx="45719" cy="141732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58" name="Text 56"/>
          <p:cNvSpPr/>
          <p:nvPr/>
        </p:nvSpPr>
        <p:spPr>
          <a:xfrm>
            <a:off x="892258" y="409336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E293B"/>
                </a:solidFill>
              </a:rPr>
              <a:t>1%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554480" cy="347472"/>
          </a:xfrm>
          <a:prstGeom prst="roundRect">
            <a:avLst>
              <a:gd name="adj" fmla="val 1052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6E4F7"/>
                </a:solidFill>
              </a:rPr>
              <a:t>05  SEGMENTATION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011680" y="73152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Customer Segmentation — 3 CLV Tiers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Not all customers deserve the same attention — or the same budget.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78892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278892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8872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HIGH CLV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173736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</a:rPr>
              <a:t>&gt; $7,950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1993392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CLV Range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31520" y="2212848"/>
            <a:ext cx="6858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20240" y="2212848"/>
            <a:ext cx="6858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2494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</a:rPr>
              <a:t>~34%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55648" y="22494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</a:rPr>
              <a:t>55%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048" y="25054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Customers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755648" y="25054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CLV Share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4944" y="2761488"/>
            <a:ext cx="1938528" cy="27432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276148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VIP Retention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2336" y="312724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DC2626"/>
                </a:solidFill>
              </a:rPr>
              <a:t>▸ </a:t>
            </a:r>
            <a:r>
              <a:rPr lang="en-US" sz="900" dirty="0">
                <a:solidFill>
                  <a:srgbClr val="1E293B"/>
                </a:solidFill>
              </a:rPr>
              <a:t>Luxury vehicle / Premium coverage / 2+ policies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2336" y="358444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DC2626"/>
                </a:solidFill>
              </a:rPr>
              <a:t>▸ </a:t>
            </a:r>
            <a:r>
              <a:rPr lang="en-US" sz="900" dirty="0">
                <a:solidFill>
                  <a:srgbClr val="1E293B"/>
                </a:solidFill>
              </a:rPr>
              <a:t>Dedicated account manager + early renewal 60 days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02336" y="404164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DC2626"/>
                </a:solidFill>
              </a:rPr>
              <a:t>▸ </a:t>
            </a:r>
            <a:r>
              <a:rPr lang="en-US" sz="900" dirty="0">
                <a:solidFill>
                  <a:srgbClr val="1E293B"/>
                </a:solidFill>
              </a:rPr>
              <a:t>Exclusive loyalty program + personal claim call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2336" y="449884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DC2626"/>
                </a:solidFill>
              </a:rPr>
              <a:t>▸ </a:t>
            </a:r>
            <a:r>
              <a:rPr lang="en-US" sz="900" dirty="0">
                <a:solidFill>
                  <a:srgbClr val="1E293B"/>
                </a:solidFill>
              </a:rPr>
              <a:t>Losing 1 customer = −$14,600 revenue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1188720"/>
            <a:ext cx="278892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1188720"/>
            <a:ext cx="278892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118872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MEDIUM CLV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10128" y="173736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</a:rPr>
              <a:t>$4,715 – $7,950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10128" y="1993392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CLV Range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0" y="2212848"/>
            <a:ext cx="6858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2212848"/>
            <a:ext cx="6858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22494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</a:rPr>
              <a:t>~33%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81728" y="22494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06"/>
                </a:solidFill>
              </a:rPr>
              <a:t>29%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310128" y="25054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Customers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81728" y="25054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CLV Share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21024" y="2761488"/>
            <a:ext cx="1938528" cy="27432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21024" y="276148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Upsell &amp; Cross-sell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28416" y="312724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D97706"/>
                </a:solidFill>
              </a:rPr>
              <a:t>▸ </a:t>
            </a:r>
            <a:r>
              <a:rPr lang="en-US" sz="900" dirty="0">
                <a:solidFill>
                  <a:srgbClr val="1E293B"/>
                </a:solidFill>
              </a:rPr>
              <a:t>1 policy or Basic/Extended coverage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28416" y="358444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D97706"/>
                </a:solidFill>
              </a:rPr>
              <a:t>▸ </a:t>
            </a:r>
            <a:r>
              <a:rPr lang="en-US" sz="900" dirty="0">
                <a:solidFill>
                  <a:srgbClr val="1E293B"/>
                </a:solidFill>
              </a:rPr>
              <a:t>Cross-sell bundle 1→2 policies (10–15% discount)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28416" y="404164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D97706"/>
                </a:solidFill>
              </a:rPr>
              <a:t>▸ </a:t>
            </a:r>
            <a:r>
              <a:rPr lang="en-US" sz="900" dirty="0">
                <a:solidFill>
                  <a:srgbClr val="1E293B"/>
                </a:solidFill>
              </a:rPr>
              <a:t>Coverage upgrade with benefit highlights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28416" y="449884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D97706"/>
                </a:solidFill>
              </a:rPr>
              <a:t>▸ </a:t>
            </a:r>
            <a:r>
              <a:rPr lang="en-US" sz="900" dirty="0">
                <a:solidFill>
                  <a:srgbClr val="1E293B"/>
                </a:solidFill>
              </a:rPr>
              <a:t>Email campaign targeting low premium_to_income ratio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26480" y="1188720"/>
            <a:ext cx="278892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26480" y="1188720"/>
            <a:ext cx="2788920" cy="47548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118872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LOW CLV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236208" y="173736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</a:rPr>
              <a:t>&lt; $4,715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36208" y="1993392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CLV Range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583680" y="2212848"/>
            <a:ext cx="6858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72400" y="2212848"/>
            <a:ext cx="6858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36208" y="22494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</a:rPr>
              <a:t>~33%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607808" y="22494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</a:rPr>
              <a:t>16%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236208" y="25054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Customers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607808" y="25054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CLV Share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547104" y="2761488"/>
            <a:ext cx="1938528" cy="27432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47104" y="276148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Automation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254496" y="312724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0F766E"/>
                </a:solidFill>
              </a:rPr>
              <a:t>▸ </a:t>
            </a:r>
            <a:r>
              <a:rPr lang="en-US" sz="900" dirty="0">
                <a:solidFill>
                  <a:srgbClr val="1E293B"/>
                </a:solidFill>
              </a:rPr>
              <a:t>Single-policy, Basic coverage, low premium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254496" y="358444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0F766E"/>
                </a:solidFill>
              </a:rPr>
              <a:t>▸ </a:t>
            </a:r>
            <a:r>
              <a:rPr lang="en-US" sz="900" dirty="0">
                <a:solidFill>
                  <a:srgbClr val="1E293B"/>
                </a:solidFill>
              </a:rPr>
              <a:t>Self-service digital channel / app portal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254496" y="404164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0F766E"/>
                </a:solidFill>
              </a:rPr>
              <a:t>▸ </a:t>
            </a:r>
            <a:r>
              <a:rPr lang="en-US" sz="900" dirty="0">
                <a:solidFill>
                  <a:srgbClr val="1E293B"/>
                </a:solidFill>
              </a:rPr>
              <a:t>Automated renewal reminder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254496" y="449884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0F766E"/>
                </a:solidFill>
              </a:rPr>
              <a:t>▸ </a:t>
            </a:r>
            <a:r>
              <a:rPr lang="en-US" sz="900" dirty="0">
                <a:solidFill>
                  <a:srgbClr val="1E293B"/>
                </a:solidFill>
              </a:rPr>
              <a:t>Chatbot for claims — minimize agent time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554480" cy="347472"/>
          </a:xfrm>
          <a:prstGeom prst="roundRect">
            <a:avLst>
              <a:gd name="adj" fmla="val 1052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6E4F7"/>
                </a:solidFill>
              </a:rPr>
              <a:t>05  BUSINESS IMPACT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011680" y="73152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Business Impact Simulation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595360" cy="438912"/>
          </a:xfrm>
          <a:prstGeom prst="rect">
            <a:avLst/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841248"/>
            <a:ext cx="8302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</a:rPr>
              <a:t>📌  Retention budget assumption: $50/customer  </a:t>
            </a:r>
            <a:r>
              <a:rPr lang="en-US" sz="950" dirty="0">
                <a:solidFill>
                  <a:srgbClr val="1E293B"/>
                </a:solidFill>
              </a:rPr>
              <a:t>Basis: US insurance industry average $30–80/customer for outreach (email + phone). $50 used as a conservative midpoint. (McKinsey Insurance Report 2022)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335024"/>
            <a:ext cx="4114800" cy="331012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35024"/>
            <a:ext cx="411480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33502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WITHOUT MODEL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8745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Random 20% of customers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21762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Customers targeted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21762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</a:rPr>
              <a:t>228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2651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Mean CLV targeted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651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</a:rPr>
              <a:t>$8,023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3127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Total CLV captured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3127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2626"/>
                </a:solidFill>
              </a:rPr>
              <a:t>$1,829,000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36027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Retention budget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36027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2626"/>
                </a:solidFill>
              </a:rPr>
              <a:t>$11,400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40782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CLV/budget ratio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0" y="40782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2626"/>
                </a:solidFill>
              </a:rPr>
              <a:t>160×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1335024"/>
            <a:ext cx="4114800" cy="331012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335024"/>
            <a:ext cx="411480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33502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WITH MODEL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18745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Top 20% by Predicted CLV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73752" y="21762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Customers targeted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95160" y="21762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</a:rPr>
              <a:t>228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73752" y="2651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Mean CLV targeted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95160" y="2651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</a:rPr>
              <a:t>$17,368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73752" y="3127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Total CLV captured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95160" y="3127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A34A"/>
                </a:solidFill>
              </a:rPr>
              <a:t>$3,960,000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73752" y="36027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Retention budget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95160" y="36027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A34A"/>
                </a:solidFill>
              </a:rPr>
              <a:t>$11,400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73752" y="40782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CLV/budget ratio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95160" y="40782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A34A"/>
                </a:solidFill>
              </a:rPr>
              <a:t>347×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" y="4754880"/>
            <a:ext cx="85953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75488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LIFT: 2.18×  |  Same $11,400 budget captures $2,131,000 MORE CLV  |  Mean targeted CLV: $8,023 → $17,368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691640" cy="347472"/>
          </a:xfrm>
          <a:prstGeom prst="roundRect">
            <a:avLst>
              <a:gd name="adj" fmla="val 1052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6E4F7"/>
                </a:solidFill>
              </a:rPr>
              <a:t>06  CONCLUSION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148840" y="73152"/>
            <a:ext cx="6720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Actionable Recommendations per Segment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96112"/>
            <a:ext cx="82296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HIGH CLV  (&gt;$7,950)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60920" y="1005840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0920" y="10058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Highest Budget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298448"/>
            <a:ext cx="8302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WHO: Luxury vehicle owners, Premium coverage, 2+ policies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517904"/>
            <a:ext cx="8302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</a:rPr>
              <a:t>DO: </a:t>
            </a:r>
            <a:r>
              <a:rPr lang="en-US" sz="900" dirty="0">
                <a:solidFill>
                  <a:srgbClr val="64748B"/>
                </a:solidFill>
              </a:rPr>
              <a:t>Dedicated account manager · Early renewal 60 days · Exclusive loyalty program · Personal claim call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792224"/>
            <a:ext cx="8302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NOT: </a:t>
            </a:r>
            <a:r>
              <a:rPr lang="en-US" sz="900" dirty="0">
                <a:solidFill>
                  <a:srgbClr val="64748B"/>
                </a:solidFill>
              </a:rPr>
              <a:t>No hard-sell — they're committed. Focus on experience and feeling valued.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86000"/>
            <a:ext cx="82296" cy="12618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77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MEDIUM CLV  ($4,715–$7,950)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60920" y="2395728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 Budget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688336"/>
            <a:ext cx="8302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WHO: Customers with 1 policy or Basic/Extended coverage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2907792"/>
            <a:ext cx="8302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</a:rPr>
              <a:t>DO: </a:t>
            </a:r>
            <a:r>
              <a:rPr lang="en-US" sz="900" dirty="0">
                <a:solidFill>
                  <a:srgbClr val="64748B"/>
                </a:solidFill>
              </a:rPr>
              <a:t>Cross-sell 1→2 policies (10–15% bundle discount) · Coverage upgrade · Email low premium_to_income ratio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182112"/>
            <a:ext cx="8302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NOT: </a:t>
            </a:r>
            <a:r>
              <a:rPr lang="en-US" sz="900" dirty="0">
                <a:solidFill>
                  <a:srgbClr val="64748B"/>
                </a:solidFill>
              </a:rPr>
              <a:t>Don't assign dedicated agents yet — not justified until they reach High CLV.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675888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675888"/>
            <a:ext cx="82296" cy="1261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767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LOW CLV  (&lt;$4,715)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60920" y="3785616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37856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Minimal Budget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078224"/>
            <a:ext cx="8302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WHO: Single-policy, Basic coverage, low monthly premium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297680"/>
            <a:ext cx="8302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</a:rPr>
              <a:t>DO: </a:t>
            </a:r>
            <a:r>
              <a:rPr lang="en-US" sz="900" dirty="0">
                <a:solidFill>
                  <a:srgbClr val="64748B"/>
                </a:solidFill>
              </a:rPr>
              <a:t>Automated digital renewal reminders · Self-service app/portal · Chatbot for claims · Standard nurture email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302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NOT: </a:t>
            </a:r>
            <a:r>
              <a:rPr lang="en-US" sz="900" dirty="0">
                <a:solidFill>
                  <a:srgbClr val="64748B"/>
                </a:solidFill>
              </a:rPr>
              <a:t>No dedicated outreach, no loyalty program, no premium agent time.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554480" cy="347472"/>
          </a:xfrm>
          <a:prstGeom prst="roundRect">
            <a:avLst>
              <a:gd name="adj" fmla="val 1052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6E4F7"/>
                </a:solidFill>
              </a:rPr>
              <a:t>06  LIMITATIONS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011680" y="73152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Limitations &amp; When to Use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4224528" cy="404164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96112"/>
            <a:ext cx="4224528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96112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When the Model CAN Be Trusted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" y="1444752"/>
            <a:ext cx="237744" cy="23774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14813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303723"/>
            <a:ext cx="3621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Personal insurance customers (not fleet/corporate)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" y="2066544"/>
            <a:ext cx="237744" cy="23774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2103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1947672"/>
            <a:ext cx="3621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Customer profiles within training data distribution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" y="2688336"/>
            <a:ext cx="237744" cy="23774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272491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569464"/>
            <a:ext cx="3621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Vehicle class &amp; coverage types present in training data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" y="3310128"/>
            <a:ext cx="237744" cy="23774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334670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189146"/>
            <a:ext cx="3621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Stable macroeconomic &amp; regulatory environment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" y="3931920"/>
            <a:ext cx="237744" cy="23774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96849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790189"/>
            <a:ext cx="3621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Standard insurance product structure unchanged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81728" y="896112"/>
            <a:ext cx="4224528" cy="404164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1728" y="896112"/>
            <a:ext cx="4224528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896112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Use with Caution When...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1444752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82896" y="14813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75504" y="1356126"/>
            <a:ext cx="3621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Income = $0 (~20% of data) — high model uncertainty for this segment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066544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82896" y="21031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75504" y="2017659"/>
            <a:ext cx="3621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Ultra-high CLV &gt;$30K — model under-predicts; validate manually for VIP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688336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82896" y="272491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75504" y="2639451"/>
            <a:ext cx="3621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Corporate / fleet customers — very different profile from training data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3310128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82896" y="334670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75504" y="3224667"/>
            <a:ext cx="3621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Regulatory changes that alter premium or claim structure fundamentally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3931920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82896" y="396849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75504" y="3809883"/>
            <a:ext cx="3621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Missing tenure — relationship duration is an unmodeled CLV driver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63769" y="494690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Future improvements: add tenure feature · separate model for ultra-high CLV · retrain every 6 months · add SHAP for individual explanations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-548640"/>
            <a:ext cx="3474720" cy="3474720"/>
          </a:xfrm>
          <a:prstGeom prst="ellipse">
            <a:avLst/>
          </a:prstGeom>
          <a:solidFill>
            <a:srgbClr val="1A3A7A">
              <a:alpha val="60000"/>
            </a:srgbClr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743200"/>
            <a:ext cx="2377440" cy="2377440"/>
          </a:xfrm>
          <a:prstGeom prst="ellipse">
            <a:avLst/>
          </a:prstGeom>
          <a:solidFill>
            <a:srgbClr val="152058">
              <a:alpha val="60000"/>
            </a:srgbClr>
          </a:solidFill>
          <a:ln w="12700">
            <a:solidFill>
              <a:srgbClr val="1520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600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1572768"/>
            <a:ext cx="7589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1200" dirty="0">
                <a:solidFill>
                  <a:srgbClr val="D6E4F7"/>
                </a:solidFill>
              </a:rPr>
              <a:t>By predicting CLV at onboarding, the company can identify high-value customers from day one — allocating retention budget with precision, maximizing profitability, and ensuring every dollar spent on retention returns measurable, data-driven value.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697480"/>
            <a:ext cx="1572768" cy="914400"/>
          </a:xfrm>
          <a:prstGeom prst="rect">
            <a:avLst/>
          </a:prstGeom>
          <a:solidFill>
            <a:srgbClr val="13205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74320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</a:rPr>
              <a:t>R²=0.68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16382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4F7"/>
                </a:solidFill>
              </a:rPr>
              <a:t>XGBoost Test R²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0" y="2697480"/>
            <a:ext cx="1572768" cy="914400"/>
          </a:xfrm>
          <a:prstGeom prst="rect">
            <a:avLst/>
          </a:prstGeom>
          <a:solidFill>
            <a:srgbClr val="13205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74320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</a:rPr>
              <a:t>2.18×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43200" y="316382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4F7"/>
                </a:solidFill>
              </a:rPr>
              <a:t>Impact Lift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2697480"/>
            <a:ext cx="1572768" cy="914400"/>
          </a:xfrm>
          <a:prstGeom prst="rect">
            <a:avLst/>
          </a:prstGeom>
          <a:solidFill>
            <a:srgbClr val="132050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74320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66E"/>
                </a:solidFill>
              </a:rPr>
              <a:t>14.9%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316382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4F7"/>
                </a:solidFill>
              </a:rPr>
              <a:t>Avg Error (MAPE)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0" y="2697480"/>
            <a:ext cx="1572768" cy="914400"/>
          </a:xfrm>
          <a:prstGeom prst="rect">
            <a:avLst/>
          </a:prstGeom>
          <a:solidFill>
            <a:srgbClr val="13205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74320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</a:rPr>
              <a:t>3-Tier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0" y="316382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4F7"/>
                </a:solidFill>
              </a:rPr>
              <a:t>Segmentation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EC8E3"/>
                </a:solidFill>
              </a:rPr>
              <a:t>Customer Lifetime Value Prediction  ·  JCDSOHAM  ·  Risky Adipratama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2742</Words>
  <Application>Microsoft Office PowerPoint</Application>
  <PresentationFormat>On-screen Show (16:9)</PresentationFormat>
  <Paragraphs>567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CLV Capstone — Final</dc:title>
  <dc:subject>PptxGenJS Presentation</dc:subject>
  <dc:creator>PptxGenJS</dc:creator>
  <cp:lastModifiedBy>Acer Aspire</cp:lastModifiedBy>
  <cp:revision>2</cp:revision>
  <dcterms:created xsi:type="dcterms:W3CDTF">2026-05-17T04:01:36Z</dcterms:created>
  <dcterms:modified xsi:type="dcterms:W3CDTF">2026-05-18T20:25:13Z</dcterms:modified>
</cp:coreProperties>
</file>